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  <p15:guide id="12" orient="horz" pos="1474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qkzePkPEhe4o+zoS2poI3NOiE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D89C10-F8A0-4FB0-8E9B-695E38A24350}">
  <a:tblStyle styleId="{77D89C10-F8A0-4FB0-8E9B-695E38A243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orient="horz" pos="14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Валерия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Валерия</a:t>
            </a:r>
            <a:endParaRPr/>
          </a:p>
        </p:txBody>
      </p:sp>
      <p:sp>
        <p:nvSpPr>
          <p:cNvPr id="222" name="Google Shape;2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Валерия</a:t>
            </a:r>
            <a:endParaRPr/>
          </a:p>
        </p:txBody>
      </p:sp>
      <p:sp>
        <p:nvSpPr>
          <p:cNvPr id="231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a4a0bdc9e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a4a0bdc9e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Егор</a:t>
            </a:r>
            <a:endParaRPr/>
          </a:p>
        </p:txBody>
      </p:sp>
      <p:sp>
        <p:nvSpPr>
          <p:cNvPr id="241" name="Google Shape;241;g3ea4a0bdc9e_3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a4a0bdc9e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a4a0bdc9e_3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Егор</a:t>
            </a:r>
            <a:endParaRPr/>
          </a:p>
        </p:txBody>
      </p:sp>
      <p:sp>
        <p:nvSpPr>
          <p:cNvPr id="253" name="Google Shape;253;g3ea4a0bdc9e_3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Лера</a:t>
            </a:r>
            <a:endParaRPr/>
          </a:p>
        </p:txBody>
      </p:sp>
      <p:sp>
        <p:nvSpPr>
          <p:cNvPr id="263" name="Google Shape;26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Егор</a:t>
            </a:r>
            <a:endParaRPr/>
          </a:p>
        </p:txBody>
      </p:sp>
      <p:sp>
        <p:nvSpPr>
          <p:cNvPr id="275" name="Google Shape;2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Лера</a:t>
            </a:r>
            <a:endParaRPr/>
          </a:p>
        </p:txBody>
      </p:sp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a50c68461_4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Владимир</a:t>
            </a:r>
            <a:endParaRPr/>
          </a:p>
        </p:txBody>
      </p:sp>
      <p:sp>
        <p:nvSpPr>
          <p:cNvPr id="297" name="Google Shape;297;g3ea50c68461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a50c68461_4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Владимир</a:t>
            </a:r>
            <a:endParaRPr/>
          </a:p>
        </p:txBody>
      </p:sp>
      <p:sp>
        <p:nvSpPr>
          <p:cNvPr id="306" name="Google Shape;306;g3ea50c68461_4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Владимир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a50c68461_4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Владимир</a:t>
            </a:r>
            <a:endParaRPr/>
          </a:p>
        </p:txBody>
      </p:sp>
      <p:sp>
        <p:nvSpPr>
          <p:cNvPr id="326" name="Google Shape;326;g3ea50c68461_4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Лера</a:t>
            </a:r>
            <a:endParaRPr/>
          </a:p>
        </p:txBody>
      </p:sp>
      <p:sp>
        <p:nvSpPr>
          <p:cNvPr id="335" name="Google Shape;3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Лера</a:t>
            </a:r>
            <a:endParaRPr/>
          </a:p>
        </p:txBody>
      </p:sp>
      <p:sp>
        <p:nvSpPr>
          <p:cNvPr id="347" name="Google Shape;3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Ахмад</a:t>
            </a:r>
            <a:endParaRPr/>
          </a:p>
        </p:txBody>
      </p:sp>
      <p:sp>
        <p:nvSpPr>
          <p:cNvPr id="357" name="Google Shape;35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Ахмад</a:t>
            </a:r>
            <a:endParaRPr/>
          </a:p>
        </p:txBody>
      </p:sp>
      <p:sp>
        <p:nvSpPr>
          <p:cNvPr id="367" name="Google Shape;36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a4a0bdc9e_1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Дарья + Анна</a:t>
            </a:r>
            <a:endParaRPr/>
          </a:p>
        </p:txBody>
      </p:sp>
      <p:sp>
        <p:nvSpPr>
          <p:cNvPr id="377" name="Google Shape;377;g3ea4a0bdc9e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a5f72cc4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g3ea5f72cc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1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1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" name="Google Shape;18;p21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" name="Google Shape;19;p21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sz="4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8" name="Google Shape;28;p2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" name="Google Shape;29;p2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0" name="Google Shape;30;p2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2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3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2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2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1" name="Google Shape;41;p2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" name="Google Shape;42;p2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" name="Google Shape;44;p23"/>
          <p:cNvSpPr>
            <a:spLocks noGrp="1"/>
          </p:cNvSpPr>
          <p:nvPr>
            <p:ph type="pic" idx="2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2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3" name="Google Shape;53;p2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4" name="Google Shape;54;p2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5" name="Google Shape;55;p2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2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7" name="Google Shape;57;p2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body" idx="3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5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2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" name="Google Shape;70;p2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1" name="Google Shape;71;p2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" name="Google Shape;72;p2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2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5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hart" idx="6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2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4" name="Google Shape;84;p2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5" name="Google Shape;85;p2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6" name="Google Shape;86;p2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2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2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>
            <a:spLocks noGrp="1"/>
          </p:cNvSpPr>
          <p:nvPr>
            <p:ph type="chart" idx="5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body" idx="6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body" idx="7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2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8" name="Google Shape;98;p2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" name="Google Shape;99;p2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" name="Google Shape;100;p2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2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2" name="Google Shape;102;p2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body" idx="4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body" idx="5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body" idx="6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7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8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9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5" name="Google Shape;115;p2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6" name="Google Shape;116;p2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7" name="Google Shape;117;p2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2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9" name="Google Shape;119;p2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4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3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7" name="Google Shape;127;p3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8" name="Google Shape;128;p3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9" name="Google Shape;129;p3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3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3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3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body" idx="4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0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0"/>
          <p:cNvSpPr txBox="1">
            <a:spLocks noGrp="1"/>
          </p:cNvSpPr>
          <p:nvPr>
            <p:ph type="body" idx="6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3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" name="Google Shape;140;p3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" name="Google Shape;141;p3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2" name="Google Shape;142;p3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3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4" name="Google Shape;144;p3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3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0" name="Google Shape;150;p3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1" name="Google Shape;151;p3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3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3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4" name="Google Shape;154;p3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2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2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2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2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2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2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2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2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2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2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2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latin typeface="Arial"/>
              </a:rPr>
              <a:t>2372 Удалённый стенд для работы с ПЛИС на базе одноплатного компьютера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84" name="Google Shape;184;p1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latin typeface="Arial"/>
              </a:rPr>
              <a:t>НИУ ВШЭ Московский институт электроники и математики им. А.Н. Тихонова</a:t>
            </a:r>
            <a:endParaRPr/>
          </a:p>
        </p:txBody>
      </p:sp>
      <p:sp>
        <p:nvSpPr>
          <p:cNvPr id="186" name="Google Shape;186;p1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 err="1" smtClean="0">
                <a:latin typeface="Arial"/>
              </a:rPr>
              <a:t>Москва</a:t>
            </a:r>
            <a:r>
              <a:rPr lang="ru-RU" dirty="0">
                <a:latin typeface="Arial"/>
              </a:rPr>
              <a:t> </a:t>
            </a:r>
            <a:r>
              <a:rPr sz="1300" dirty="0" smtClean="0">
                <a:latin typeface="Arial"/>
              </a:rPr>
              <a:t>2026</a:t>
            </a:r>
            <a:endParaRPr sz="1300" dirty="0"/>
          </a:p>
        </p:txBody>
      </p:sp>
      <p:sp>
        <p:nvSpPr>
          <p:cNvPr id="187" name="Google Shape;187;p1"/>
          <p:cNvSpPr txBox="1">
            <a:spLocks noGrp="1"/>
          </p:cNvSpPr>
          <p:nvPr>
            <p:ph type="body" idx="4"/>
          </p:nvPr>
        </p:nvSpPr>
        <p:spPr>
          <a:xfrm>
            <a:off x="1027975" y="4492473"/>
            <a:ext cx="7625400" cy="1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1100">
                <a:solidFill>
                  <a:srgbClr val="1A1A1A"/>
                </a:solidFill>
                <a:latin typeface="Arial"/>
              </a:rPr>
              <a:t>Подготовили:</a:t>
            </a:r>
          </a:p>
          <a:p>
            <a:pPr marL="0" indent="0" algn="l"/>
            <a:r>
              <a:rPr sz="1100">
                <a:solidFill>
                  <a:srgbClr val="1A1A1A"/>
                </a:solidFill>
                <a:latin typeface="Arial"/>
              </a:rPr>
              <a:t>Югов А.С., Иевлев Н.Е., Филиппов И.С., Раков Б.С.</a:t>
            </a:r>
          </a:p>
          <a:p>
            <a:pPr marL="0" indent="0" algn="l"/>
            <a:r>
              <a:rPr sz="1100">
                <a:solidFill>
                  <a:srgbClr val="1A1A1A"/>
                </a:solidFill>
                <a:latin typeface="Arial"/>
              </a:rPr>
              <a:t>Белых М.С., Волков В.О., Хранцкевич С.С., Гольцев Н.С.</a:t>
            </a:r>
          </a:p>
          <a:p>
            <a:pPr marL="0" indent="0" algn="l"/>
            <a:endParaRPr sz="110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100">
                <a:solidFill>
                  <a:srgbClr val="1A1A1A"/>
                </a:solidFill>
                <a:latin typeface="Arial"/>
              </a:rPr>
              <a:t>Руководитель:</a:t>
            </a:r>
          </a:p>
          <a:p>
            <a:pPr marL="0" indent="0" algn="l"/>
            <a:r>
              <a:rPr sz="1100">
                <a:solidFill>
                  <a:srgbClr val="1A1A1A"/>
                </a:solidFill>
                <a:latin typeface="Arial"/>
              </a:rPr>
              <a:t>Американов Александр Александрович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 b="0">
                <a:solidFill>
                  <a:srgbClr val="0B2E6F"/>
                </a:solidFill>
                <a:latin typeface="Arial"/>
              </a:rPr>
              <a:t>Участники проекта</a:t>
            </a:r>
          </a:p>
        </p:txBody>
      </p:sp>
      <p:sp>
        <p:nvSpPr>
          <p:cNvPr id="194" name="Google Shape;194;p2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Участники проекта</a:t>
            </a:r>
          </a:p>
        </p:txBody>
      </p:sp>
      <p:sp>
        <p:nvSpPr>
          <p:cNvPr id="209" name="Google Shape;209;p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0000" y="1872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Югов Александр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стажёр-инженер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240000" y="1872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Иевлев Николай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стажёр-инженер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030000" y="1872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Филиппов Иван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стажёр-инженер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0000" y="1872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Раков Богдан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разработчик ПО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50000" y="4320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Белых Максим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разработчик ПО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40000" y="4320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Волков Владимир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разработчик встраиваемых систем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030000" y="4320000"/>
            <a:ext cx="244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 dirty="0" err="1">
                <a:solidFill>
                  <a:srgbClr val="0B2E6F"/>
                </a:solidFill>
                <a:latin typeface="Arial"/>
              </a:rPr>
              <a:t>Хранцкевич</a:t>
            </a:r>
            <a:r>
              <a:rPr sz="1300" b="1" dirty="0">
                <a:solidFill>
                  <a:srgbClr val="0B2E6F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B2E6F"/>
                </a:solidFill>
                <a:latin typeface="Arial"/>
              </a:rPr>
              <a:t>Сергей</a:t>
            </a:r>
            <a:endParaRPr sz="1300" b="1" dirty="0">
              <a:solidFill>
                <a:srgbClr val="0B2E6F"/>
              </a:solidFill>
              <a:latin typeface="Arial"/>
            </a:endParaRPr>
          </a:p>
          <a:p>
            <a:pPr marL="0" indent="0" algn="l"/>
            <a:r>
              <a:rPr sz="1100" dirty="0" err="1" smtClean="0">
                <a:solidFill>
                  <a:srgbClr val="0B2E6F"/>
                </a:solidFill>
                <a:latin typeface="Arial"/>
              </a:rPr>
              <a:t>стажёр</a:t>
            </a:r>
            <a:endParaRPr sz="1100" dirty="0">
              <a:solidFill>
                <a:srgbClr val="0B2E6F"/>
              </a:solidFill>
              <a:latin typeface="Arial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8820000" y="4320000"/>
            <a:ext cx="24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sz="1300" b="1">
                <a:solidFill>
                  <a:srgbClr val="0B2E6F"/>
                </a:solidFill>
                <a:latin typeface="Arial"/>
              </a:rPr>
              <a:t>Гольцев Никита</a:t>
            </a:r>
          </a:p>
          <a:p>
            <a:pPr marL="0" indent="0" algn="l"/>
            <a:r>
              <a:rPr sz="1100">
                <a:solidFill>
                  <a:srgbClr val="0B2E6F"/>
                </a:solidFill>
                <a:latin typeface="Arial"/>
              </a:rPr>
              <a:t>веб-программист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15" name="Google Shape;215;p3"/>
          <p:cNvSpPr txBox="1">
            <a:spLocks noGrp="1"/>
          </p:cNvSpPr>
          <p:nvPr>
            <p:ph type="body" idx="3"/>
          </p:nvPr>
        </p:nvSpPr>
        <p:spPr>
          <a:xfrm>
            <a:off x="585926" y="1294247"/>
            <a:ext cx="4943237" cy="467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Проблема учебной лаборатории: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— физические платы DE10-Lite ограничены по количеству и требуют очного доступа;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— ПК-стенд через удалённый рабочий стол занимает место, потребляет больше энергии и даёт общий рабочий стол;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— прежняя веб-реализация подтвердила идею, но была трудной в развёртывании и сопровождении.</a:t>
            </a:r>
          </a:p>
          <a:p>
            <a:pPr marL="0" indent="0" algn="l"/>
            <a:endParaRPr sz="130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Смысл проекта 2372 — не «ещё один стенд», а эксплуатационная версия: самостоятельная установка, администрирование, понятные пользовательские сценарии и документация.</a:t>
            </a:r>
          </a:p>
        </p:txBody>
      </p:sp>
      <p:sp>
        <p:nvSpPr>
          <p:cNvPr id="216" name="Google Shape;216;p3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Зачем нужен проект</a:t>
            </a:r>
          </a:p>
        </p:txBody>
      </p:sp>
      <p:sp>
        <p:nvSpPr>
          <p:cNvPr id="219" name="Google Shape;219;p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220" name="Picture 219" descr="04_fpg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53892" y="1128000"/>
            <a:ext cx="4352000" cy="2448000"/>
          </a:xfrm>
          <a:prstGeom prst="rect">
            <a:avLst/>
          </a:prstGeom>
        </p:spPr>
      </p:pic>
      <p:pic>
        <p:nvPicPr>
          <p:cNvPr id="221" name="Picture 220" descr="12_session_camera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53892" y="3522000"/>
            <a:ext cx="4352000" cy="24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 txBox="1">
            <a:spLocks noGrp="1"/>
          </p:cNvSpPr>
          <p:nvPr>
            <p:ph type="title"/>
          </p:nvPr>
        </p:nvSpPr>
        <p:spPr>
          <a:xfrm>
            <a:off x="585900" y="1447800"/>
            <a:ext cx="27018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Цель проекта</a:t>
            </a:r>
          </a:p>
        </p:txBody>
      </p:sp>
      <p:sp>
        <p:nvSpPr>
          <p:cNvPr id="225" name="Google Shape;225;p5"/>
          <p:cNvSpPr txBox="1">
            <a:spLocks noGrp="1"/>
          </p:cNvSpPr>
          <p:nvPr>
            <p:ph type="body" idx="1"/>
          </p:nvPr>
        </p:nvSpPr>
        <p:spPr>
          <a:xfrm>
            <a:off x="585900" y="1946150"/>
            <a:ext cx="11257800" cy="30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Цель: довести удалённый FPGA-стенд до состояния, пригодного для эксплуатации в лаборатории САПР МИЭМ.</a:t>
            </a:r>
          </a:p>
          <a:p>
            <a:pPr marL="0" indent="0" algn="l"/>
            <a:endParaRPr sz="130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Задачи: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1. Перенести аппаратную ячейку на Raspberry Pi без обязательного лабораторного ПК.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2. Реализовать сервер учёта пользователей, стендов, заявок, сессий и прав доступа.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3. Реализовать агент оборудования для OpenOCD, USB-Blaster, камеры и GPIO.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4. Добавить администрирование, журналы, диагностику и режим имитации.</a:t>
            </a:r>
          </a:p>
          <a:p>
            <a:pPr marL="0" indent="0" algn="l"/>
            <a:r>
              <a:rPr sz="1300">
                <a:solidFill>
                  <a:srgbClr val="1A1A1A"/>
                </a:solidFill>
                <a:latin typeface="Arial"/>
              </a:rPr>
              <a:t>5. Подготовить воспроизводимую установку, примеры DE10-Lite и комплект документации.</a:t>
            </a:r>
          </a:p>
        </p:txBody>
      </p:sp>
      <p:sp>
        <p:nvSpPr>
          <p:cNvPr id="226" name="Google Shape;226;p5"/>
          <p:cNvSpPr txBox="1">
            <a:spLocks noGrp="1"/>
          </p:cNvSpPr>
          <p:nvPr>
            <p:ph type="body" idx="5"/>
          </p:nvPr>
        </p:nvSpPr>
        <p:spPr>
          <a:xfrm>
            <a:off x="6259892" y="534695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Цель проекта</a:t>
            </a:r>
          </a:p>
        </p:txBody>
      </p:sp>
      <p:sp>
        <p:nvSpPr>
          <p:cNvPr id="227" name="Google Shape;227;p5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>
            <a:spLocks noGrp="1"/>
          </p:cNvSpPr>
          <p:nvPr>
            <p:ph type="title"/>
          </p:nvPr>
        </p:nvSpPr>
        <p:spPr>
          <a:xfrm>
            <a:off x="585900" y="1230650"/>
            <a:ext cx="4200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Этапы решения задачи</a:t>
            </a:r>
          </a:p>
        </p:txBody>
      </p:sp>
      <p:sp>
        <p:nvSpPr>
          <p:cNvPr id="234" name="Google Shape;234;p7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Этапы решения задачи</a:t>
            </a:r>
          </a:p>
        </p:txBody>
      </p:sp>
      <p:sp>
        <p:nvSpPr>
          <p:cNvPr id="235" name="Google Shape;235;p7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36" name="Google Shape;236;p7"/>
          <p:cNvSpPr txBox="1">
            <a:spLocks noGrp="1"/>
          </p:cNvSpPr>
          <p:nvPr>
            <p:ph type="body" idx="1"/>
          </p:nvPr>
        </p:nvSpPr>
        <p:spPr>
          <a:xfrm>
            <a:off x="585900" y="1577050"/>
            <a:ext cx="10119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1.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Проанализирована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прежняя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реализация</a:t>
            </a:r>
            <a:r>
              <a:rPr sz="1300" dirty="0">
                <a:solidFill>
                  <a:srgbClr val="1A1A1A"/>
                </a:solidFill>
                <a:latin typeface="Arial"/>
              </a:rPr>
              <a:t> и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сценарии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лабораторных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работ</a:t>
            </a:r>
            <a:r>
              <a:rPr sz="13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2.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Сформирована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архитектура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«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сервер</a:t>
            </a:r>
            <a:r>
              <a:rPr sz="1300" dirty="0">
                <a:solidFill>
                  <a:srgbClr val="1A1A1A"/>
                </a:solidFill>
                <a:latin typeface="Arial"/>
              </a:rPr>
              <a:t> —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агент</a:t>
            </a:r>
            <a:r>
              <a:rPr sz="1300" dirty="0">
                <a:solidFill>
                  <a:srgbClr val="1A1A1A"/>
                </a:solidFill>
                <a:latin typeface="Arial"/>
              </a:rPr>
              <a:t> —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аппаратная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ячейка</a:t>
            </a:r>
            <a:r>
              <a:rPr sz="1300" dirty="0">
                <a:solidFill>
                  <a:srgbClr val="1A1A1A"/>
                </a:solidFill>
                <a:latin typeface="Arial"/>
              </a:rPr>
              <a:t>».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3.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Реализованы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сервер</a:t>
            </a:r>
            <a:r>
              <a:rPr sz="1300" dirty="0">
                <a:solidFill>
                  <a:srgbClr val="1A1A1A"/>
                </a:solidFill>
                <a:latin typeface="Arial"/>
              </a:rPr>
              <a:t> Django, API и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интерфейс</a:t>
            </a:r>
            <a:r>
              <a:rPr sz="1300" dirty="0">
                <a:solidFill>
                  <a:srgbClr val="1A1A1A"/>
                </a:solidFill>
                <a:latin typeface="Arial"/>
              </a:rPr>
              <a:t> React.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4.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Реализован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агент</a:t>
            </a:r>
            <a:r>
              <a:rPr sz="1300" dirty="0">
                <a:solidFill>
                  <a:srgbClr val="1A1A1A"/>
                </a:solidFill>
                <a:latin typeface="Arial"/>
              </a:rPr>
              <a:t> Raspberry Pi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для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OpenOCD</a:t>
            </a:r>
            <a:r>
              <a:rPr sz="1300" dirty="0">
                <a:solidFill>
                  <a:srgbClr val="1A1A1A"/>
                </a:solidFill>
                <a:latin typeface="Arial"/>
              </a:rPr>
              <a:t>, GPIO и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видеозаписи</a:t>
            </a:r>
            <a:r>
              <a:rPr sz="13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5.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Добавлены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асинхронные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заявки</a:t>
            </a:r>
            <a:r>
              <a:rPr sz="1300" dirty="0">
                <a:solidFill>
                  <a:srgbClr val="1A1A1A"/>
                </a:solidFill>
                <a:latin typeface="Arial"/>
              </a:rPr>
              <a:t> и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интерактивные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сессии</a:t>
            </a:r>
            <a:r>
              <a:rPr sz="13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6.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Сделаны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установочные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сценарии</a:t>
            </a:r>
            <a:r>
              <a:rPr sz="1300" dirty="0">
                <a:solidFill>
                  <a:srgbClr val="1A1A1A"/>
                </a:solidFill>
                <a:latin typeface="Arial"/>
              </a:rPr>
              <a:t> server/install.sh и agent/install.sh.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7.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Подготовлены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примеры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 smtClean="0">
                <a:solidFill>
                  <a:srgbClr val="1A1A1A"/>
                </a:solidFill>
                <a:latin typeface="Arial"/>
              </a:rPr>
              <a:t>для</a:t>
            </a:r>
            <a:r>
              <a:rPr sz="1300" dirty="0" smtClean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>
                <a:solidFill>
                  <a:srgbClr val="1A1A1A"/>
                </a:solidFill>
                <a:latin typeface="Arial"/>
              </a:rPr>
              <a:t>DE10-Lite.</a:t>
            </a:r>
          </a:p>
          <a:p>
            <a:pPr marL="0" indent="0" algn="l"/>
            <a:r>
              <a:rPr sz="1300" dirty="0">
                <a:solidFill>
                  <a:srgbClr val="1A1A1A"/>
                </a:solidFill>
                <a:latin typeface="Arial"/>
              </a:rPr>
              <a:t>8.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Проведена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проверка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на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реальном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оборудовании</a:t>
            </a:r>
            <a:r>
              <a:rPr sz="1300" dirty="0">
                <a:solidFill>
                  <a:srgbClr val="1A1A1A"/>
                </a:solidFill>
                <a:latin typeface="Arial"/>
              </a:rPr>
              <a:t> и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оформлена</a:t>
            </a:r>
            <a:r>
              <a:rPr sz="1300" dirty="0">
                <a:solidFill>
                  <a:srgbClr val="1A1A1A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Arial"/>
              </a:rPr>
              <a:t>документация</a:t>
            </a:r>
            <a:r>
              <a:rPr sz="13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37" name="Google Shape;237;p7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a4a0bdc9e_3_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44" name="Google Shape;244;g3ea4a0bdc9e_3_1"/>
          <p:cNvSpPr txBox="1">
            <a:spLocks noGrp="1"/>
          </p:cNvSpPr>
          <p:nvPr>
            <p:ph type="title"/>
          </p:nvPr>
        </p:nvSpPr>
        <p:spPr>
          <a:xfrm>
            <a:off x="566997" y="1497640"/>
            <a:ext cx="11058000" cy="7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Имеющийся задел</a:t>
            </a:r>
          </a:p>
        </p:txBody>
      </p:sp>
      <p:sp>
        <p:nvSpPr>
          <p:cNvPr id="245" name="Google Shape;245;g3ea4a0bdc9e_3_1"/>
          <p:cNvSpPr txBox="1">
            <a:spLocks noGrp="1"/>
          </p:cNvSpPr>
          <p:nvPr>
            <p:ph type="body" idx="3"/>
          </p:nvPr>
        </p:nvSpPr>
        <p:spPr>
          <a:xfrm>
            <a:off x="567000" y="2339975"/>
            <a:ext cx="6576900" cy="3745200"/>
          </a:xfrm>
          <a:prstGeom prst="rect">
            <a:avLst/>
          </a:prstGeom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 algn="l"/>
            <a:r>
              <a:rPr sz="1500" b="1">
                <a:solidFill>
                  <a:srgbClr val="0B2E6F"/>
                </a:solidFill>
                <a:latin typeface="Arial"/>
              </a:rPr>
              <a:t>Сохраняем: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идею веб-доступа к реальной ПЛИС;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разделение пользовательских сессий;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связку Raspberry Pi, DE10-Lite, камера и GPIO;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асинхронный и интерактивный режимы.</a:t>
            </a:r>
          </a:p>
        </p:txBody>
      </p:sp>
      <p:sp>
        <p:nvSpPr>
          <p:cNvPr id="246" name="Google Shape;246;g3ea4a0bdc9e_3_1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Имеющийся задел</a:t>
            </a:r>
          </a:p>
        </p:txBody>
      </p:sp>
      <p:sp>
        <p:nvSpPr>
          <p:cNvPr id="249" name="Google Shape;249;g3ea4a0bdc9e_3_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6120000" y="2232000"/>
            <a:ext cx="5040000" cy="2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/>
            <a:r>
              <a:rPr sz="1500" b="1">
                <a:solidFill>
                  <a:srgbClr val="0B2E6F"/>
                </a:solidFill>
                <a:latin typeface="Arial"/>
              </a:rPr>
              <a:t>Переделываем: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серверную и агентскую части;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процедуру развёртывания и обновления;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админ-панель и диагностику;</a:t>
            </a: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— документацию пользователя, администратора и разработчика.</a:t>
            </a:r>
          </a:p>
          <a:p>
            <a:pPr marL="0" indent="0" algn="l"/>
            <a:endParaRPr sz="150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500">
                <a:solidFill>
                  <a:srgbClr val="1A1A1A"/>
                </a:solidFill>
                <a:latin typeface="Arial"/>
              </a:rPr>
              <a:t>Итог: не демонстрационный прототип, а сопровождаемая лабораторная система.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a4a0bdc9e_3_1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56" name="Google Shape;256;g3ea4a0bdc9e_3_16"/>
          <p:cNvSpPr txBox="1">
            <a:spLocks noGrp="1"/>
          </p:cNvSpPr>
          <p:nvPr>
            <p:ph type="title"/>
          </p:nvPr>
        </p:nvSpPr>
        <p:spPr>
          <a:xfrm>
            <a:off x="566997" y="1497640"/>
            <a:ext cx="11058000" cy="77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Что стало лучше в версии 2372</a:t>
            </a:r>
          </a:p>
        </p:txBody>
      </p:sp>
      <p:sp>
        <p:nvSpPr>
          <p:cNvPr id="257" name="Google Shape;257;g3ea4a0bdc9e_3_16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Улучшения</a:t>
            </a:r>
          </a:p>
        </p:txBody>
      </p:sp>
      <p:sp>
        <p:nvSpPr>
          <p:cNvPr id="258" name="Google Shape;258;g3ea4a0bdc9e_3_16"/>
          <p:cNvSpPr txBox="1">
            <a:spLocks noGrp="1"/>
          </p:cNvSpPr>
          <p:nvPr>
            <p:ph type="body" idx="3"/>
          </p:nvPr>
        </p:nvSpPr>
        <p:spPr>
          <a:xfrm>
            <a:off x="684000" y="1998000"/>
            <a:ext cx="4932000" cy="313199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/>
            <a:r>
              <a:rPr sz="1200" dirty="0">
                <a:solidFill>
                  <a:srgbClr val="000000"/>
                </a:solidFill>
                <a:latin typeface="Arial"/>
              </a:rPr>
              <a:t>1.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Развёртывание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выполняется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сценариями</a:t>
            </a:r>
            <a:r>
              <a:rPr sz="1200" dirty="0">
                <a:solidFill>
                  <a:srgbClr val="000000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без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ручной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настройки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окружения</a:t>
            </a:r>
            <a:r>
              <a:rPr sz="12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/>
            <a:endParaRPr sz="1200" dirty="0">
              <a:solidFill>
                <a:srgbClr val="000000"/>
              </a:solidFill>
              <a:latin typeface="Arial"/>
            </a:endParaRPr>
          </a:p>
          <a:p>
            <a:pPr marL="0" indent="0" algn="l"/>
            <a:r>
              <a:rPr sz="1200" dirty="0">
                <a:solidFill>
                  <a:srgbClr val="000000"/>
                </a:solidFill>
                <a:latin typeface="Arial"/>
              </a:rPr>
              <a:t>2.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Администратор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видит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стенды</a:t>
            </a:r>
            <a:r>
              <a:rPr sz="1200" dirty="0">
                <a:solidFill>
                  <a:srgbClr val="000000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задания</a:t>
            </a:r>
            <a:r>
              <a:rPr sz="1200" dirty="0">
                <a:solidFill>
                  <a:srgbClr val="000000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сессии</a:t>
            </a:r>
            <a:r>
              <a:rPr sz="12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диагностические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журналы</a:t>
            </a:r>
            <a:r>
              <a:rPr sz="12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/>
            <a:endParaRPr sz="1200" dirty="0">
              <a:solidFill>
                <a:srgbClr val="000000"/>
              </a:solidFill>
              <a:latin typeface="Arial"/>
            </a:endParaRPr>
          </a:p>
          <a:p>
            <a:pPr marL="0" indent="0" algn="l"/>
            <a:r>
              <a:rPr sz="1200" dirty="0">
                <a:solidFill>
                  <a:srgbClr val="000000"/>
                </a:solidFill>
                <a:latin typeface="Arial"/>
              </a:rPr>
              <a:t>3.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Пользователи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изолированы</a:t>
            </a:r>
            <a:r>
              <a:rPr sz="1200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одна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ячейка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выдаётся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двум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людям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одновременно</a:t>
            </a:r>
            <a:r>
              <a:rPr sz="12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/>
            <a:endParaRPr sz="1200" dirty="0">
              <a:solidFill>
                <a:srgbClr val="000000"/>
              </a:solidFill>
              <a:latin typeface="Arial"/>
            </a:endParaRPr>
          </a:p>
          <a:p>
            <a:pPr marL="0" indent="0" algn="l"/>
            <a:r>
              <a:rPr sz="1200" dirty="0">
                <a:solidFill>
                  <a:srgbClr val="000000"/>
                </a:solidFill>
                <a:latin typeface="Arial"/>
              </a:rPr>
              <a:t>4.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Агент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сообщает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фактическую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распиновку</a:t>
            </a:r>
            <a:r>
              <a:rPr sz="1200" dirty="0">
                <a:solidFill>
                  <a:srgbClr val="000000"/>
                </a:solidFill>
                <a:latin typeface="Arial"/>
              </a:rPr>
              <a:t> GPIO.</a:t>
            </a:r>
          </a:p>
          <a:p>
            <a:pPr marL="0" indent="0" algn="l"/>
            <a:endParaRPr sz="1200" dirty="0">
              <a:solidFill>
                <a:srgbClr val="000000"/>
              </a:solidFill>
              <a:latin typeface="Arial"/>
            </a:endParaRPr>
          </a:p>
          <a:p>
            <a:pPr marL="0" indent="0" algn="l"/>
            <a:r>
              <a:rPr sz="1200" dirty="0">
                <a:solidFill>
                  <a:srgbClr val="000000"/>
                </a:solidFill>
                <a:latin typeface="Arial"/>
              </a:rPr>
              <a:t>5.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проверки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есть</a:t>
            </a:r>
            <a:r>
              <a:rPr sz="1200" dirty="0">
                <a:solidFill>
                  <a:srgbClr val="000000"/>
                </a:solidFill>
                <a:latin typeface="Arial"/>
              </a:rPr>
              <a:t> Blink, GPIO-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тест</a:t>
            </a:r>
            <a:r>
              <a:rPr sz="12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режим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имитации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без</a:t>
            </a:r>
            <a:r>
              <a:rPr sz="120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Arial"/>
              </a:rPr>
              <a:t>платы</a:t>
            </a:r>
            <a:r>
              <a:rPr sz="12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260" name="Google Shape;260;g3ea4a0bdc9e_3_1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261" name="Picture 26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32000" y="1764000"/>
            <a:ext cx="4536000" cy="255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Проектная архитектура стенда</a:t>
            </a:r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3"/>
          </p:nvPr>
        </p:nvSpPr>
        <p:spPr>
          <a:xfrm>
            <a:off x="646050" y="2124250"/>
            <a:ext cx="4450000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fontScale="92500" lnSpcReduction="20000"/>
          </a:bodyPr>
          <a:lstStyle/>
          <a:p>
            <a:pPr marL="0" marR="0" indent="0" algn="l" rtl="0">
              <a:lnSpc>
                <a:spcPct val="163043"/>
              </a:lnSpc>
              <a:spcBef>
                <a:spcPts val="600"/>
              </a:spcBef>
              <a:spcAft>
                <a:spcPts val="0"/>
              </a:spcAft>
            </a:pPr>
            <a:r>
              <a:rPr>
                <a:latin typeface="Arial"/>
              </a:rPr>
              <a:t>Стенд состоит из веб-приложения, сервера управления и аппаратной ячейки на Raspberry Pi.</a:t>
            </a:r>
            <a:endParaRPr sz="1600"/>
          </a:p>
        </p:txBody>
      </p:sp>
      <p:sp>
        <p:nvSpPr>
          <p:cNvPr id="268" name="Google Shape;268;p34"/>
          <p:cNvSpPr txBox="1">
            <a:spLocks noGrp="1"/>
          </p:cNvSpPr>
          <p:nvPr>
            <p:ph type="body" idx="4"/>
          </p:nvPr>
        </p:nvSpPr>
        <p:spPr>
          <a:xfrm>
            <a:off x="6259904" y="548725"/>
            <a:ext cx="32187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Проектная архитектура стенда</a:t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5156203" y="2013300"/>
            <a:ext cx="6780000" cy="29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lnSpc>
                <a:spcPct val="163043"/>
              </a:lnSpc>
              <a:spcBef>
                <a:spcPts val="600"/>
              </a:spcBef>
              <a:spcAft>
                <a:spcPts val="0"/>
              </a:spcAft>
            </a:pPr>
            <a:r>
              <a:rPr sz="1600" dirty="0" err="1">
                <a:latin typeface="Arial"/>
              </a:rPr>
              <a:t>Основные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компоненты</a:t>
            </a:r>
            <a:r>
              <a:rPr sz="1600" dirty="0">
                <a:latin typeface="Arial"/>
              </a:rPr>
              <a:t>:</a:t>
            </a:r>
            <a:endParaRPr i="1" dirty="0">
              <a:solidFill>
                <a:srgbClr val="0E2D69"/>
              </a:solidFill>
            </a:endParaRP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пользовательский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браузер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Django-</a:t>
            </a:r>
            <a:r>
              <a:rPr sz="1600" dirty="0" err="1">
                <a:latin typeface="Arial"/>
              </a:rPr>
              <a:t>сервер</a:t>
            </a:r>
            <a:r>
              <a:rPr sz="1600" dirty="0">
                <a:latin typeface="Arial"/>
              </a:rPr>
              <a:t> и React-</a:t>
            </a:r>
            <a:r>
              <a:rPr sz="1600" dirty="0" err="1">
                <a:latin typeface="Arial"/>
              </a:rPr>
              <a:t>интерфейс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база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данных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заданий</a:t>
            </a:r>
            <a:r>
              <a:rPr sz="1600" dirty="0">
                <a:latin typeface="Arial"/>
              </a:rPr>
              <a:t>, </a:t>
            </a:r>
            <a:r>
              <a:rPr sz="1600" dirty="0" err="1">
                <a:latin typeface="Arial"/>
              </a:rPr>
              <a:t>сессий</a:t>
            </a:r>
            <a:r>
              <a:rPr sz="1600" dirty="0">
                <a:latin typeface="Arial"/>
              </a:rPr>
              <a:t> и </a:t>
            </a:r>
            <a:r>
              <a:rPr sz="1600" dirty="0" err="1">
                <a:latin typeface="Arial"/>
              </a:rPr>
              <a:t>стендов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агент</a:t>
            </a:r>
            <a:r>
              <a:rPr sz="1600" dirty="0">
                <a:latin typeface="Arial"/>
              </a:rPr>
              <a:t> Raspberry Pi;</a:t>
            </a:r>
          </a:p>
          <a:p>
            <a:pPr marL="0" indent="0" algn="l"/>
            <a:r>
              <a:rPr sz="1600" dirty="0">
                <a:latin typeface="Arial"/>
              </a:rPr>
              <a:t>— USB-Blaster, </a:t>
            </a:r>
            <a:r>
              <a:rPr sz="1600" dirty="0" err="1">
                <a:latin typeface="Arial"/>
              </a:rPr>
              <a:t>камера</a:t>
            </a:r>
            <a:r>
              <a:rPr sz="1600" dirty="0">
                <a:latin typeface="Arial"/>
              </a:rPr>
              <a:t> и GPIO;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плата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Terasic</a:t>
            </a:r>
            <a:r>
              <a:rPr sz="1600" dirty="0">
                <a:latin typeface="Arial"/>
              </a:rPr>
              <a:t> DE10-Lite.</a:t>
            </a:r>
          </a:p>
          <a:p>
            <a:pPr marL="0" indent="0" algn="l"/>
            <a:endParaRPr sz="1600" dirty="0"/>
          </a:p>
          <a:p>
            <a:pPr marL="0" indent="0" algn="l"/>
            <a:r>
              <a:rPr sz="1600" dirty="0" err="1">
                <a:latin typeface="Arial"/>
              </a:rPr>
              <a:t>Сервер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управляет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очередью</a:t>
            </a:r>
            <a:r>
              <a:rPr sz="1600" dirty="0">
                <a:latin typeface="Arial"/>
              </a:rPr>
              <a:t> и </a:t>
            </a:r>
            <a:r>
              <a:rPr sz="1600" dirty="0" err="1">
                <a:latin typeface="Arial"/>
              </a:rPr>
              <a:t>правами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доступа</a:t>
            </a:r>
            <a:r>
              <a:rPr sz="1600" dirty="0">
                <a:latin typeface="Arial"/>
              </a:rPr>
              <a:t>, а </a:t>
            </a:r>
            <a:r>
              <a:rPr sz="1600" dirty="0" err="1">
                <a:latin typeface="Arial"/>
              </a:rPr>
              <a:t>агент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выполняет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аппаратные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операции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рядом</a:t>
            </a:r>
            <a:r>
              <a:rPr sz="1600" dirty="0">
                <a:latin typeface="Arial"/>
              </a:rPr>
              <a:t> с </a:t>
            </a:r>
            <a:r>
              <a:rPr sz="1600" dirty="0" err="1">
                <a:latin typeface="Arial"/>
              </a:rPr>
              <a:t>платой</a:t>
            </a:r>
            <a:r>
              <a:rPr sz="1600" dirty="0">
                <a:latin typeface="Arial"/>
              </a:rPr>
              <a:t>.</a:t>
            </a:r>
          </a:p>
        </p:txBody>
      </p:sp>
      <p:sp>
        <p:nvSpPr>
          <p:cNvPr id="272" name="Google Shape;272;p3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273" name="Picture 272" descr="05_home_admi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4000" y="2790000"/>
            <a:ext cx="38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 txBox="1">
            <a:spLocks noGrp="1"/>
          </p:cNvSpPr>
          <p:nvPr>
            <p:ph type="title"/>
          </p:nvPr>
        </p:nvSpPr>
        <p:spPr>
          <a:xfrm>
            <a:off x="585900" y="1447800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Аппаратная ячейка</a:t>
            </a:r>
            <a:endParaRPr/>
          </a:p>
        </p:txBody>
      </p:sp>
      <p:sp>
        <p:nvSpPr>
          <p:cNvPr id="278" name="Google Shape;278;p4"/>
          <p:cNvSpPr txBox="1">
            <a:spLocks noGrp="1"/>
          </p:cNvSpPr>
          <p:nvPr>
            <p:ph type="body" idx="1"/>
          </p:nvPr>
        </p:nvSpPr>
        <p:spPr>
          <a:xfrm>
            <a:off x="630000" y="1980000"/>
            <a:ext cx="4932000" cy="30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Аппаратная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ячейка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стенда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включает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Raspberry Pi, DE10-Lite, USB-Blaster, USB-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камеру</a:t>
            </a:r>
            <a:r>
              <a:rPr sz="16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восемь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цифровых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линий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связи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  <a:endParaRPr sz="1800" dirty="0"/>
          </a:p>
          <a:p>
            <a:pPr marL="0" indent="0" algn="l"/>
            <a:endParaRPr sz="1800" dirty="0"/>
          </a:p>
          <a:p>
            <a:pPr marL="0" indent="0" algn="l"/>
            <a:r>
              <a:rPr lang="ru-RU" sz="1600" dirty="0" smtClean="0">
                <a:solidFill>
                  <a:srgbClr val="000000"/>
                </a:solidFill>
                <a:latin typeface="Arial"/>
              </a:rPr>
              <a:t>Raspberry Pi выполняет роль управляющего узла: запускает OpenOCD, передаёт команды GPIO и формирует видеопоток.</a:t>
            </a:r>
          </a:p>
          <a:p>
            <a:pPr marL="0" indent="0" algn="l"/>
            <a:endParaRPr sz="1600" dirty="0">
              <a:solidFill>
                <a:srgbClr val="000000"/>
              </a:solidFill>
              <a:latin typeface="Arial"/>
            </a:endParaRPr>
          </a:p>
          <a:p>
            <a:pPr marL="0" indent="0" algn="l"/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Линии GPIO захватываются только на время задания или сессии. После завершения они переводятся во входы без подтяжки, чтобы исключить конфликт с выводами ПЛИС.</a:t>
            </a:r>
          </a:p>
        </p:txBody>
      </p:sp>
      <p:sp>
        <p:nvSpPr>
          <p:cNvPr id="279" name="Google Shape;279;p4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Аппаратная ячейка</a:t>
            </a:r>
            <a:endParaRPr/>
          </a:p>
        </p:txBody>
      </p:sp>
      <p:sp>
        <p:nvSpPr>
          <p:cNvPr id="280" name="Google Shape;280;p4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84" name="Google Shape;284;p4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285" name="Picture 284" descr="12_session_camer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56000" y="1080000"/>
            <a:ext cx="4140000" cy="2328750"/>
          </a:xfrm>
          <a:prstGeom prst="rect">
            <a:avLst/>
          </a:prstGeom>
        </p:spPr>
      </p:pic>
      <p:pic>
        <p:nvPicPr>
          <p:cNvPr id="286" name="Picture 285" descr="06b_docs_pins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56000" y="3474000"/>
            <a:ext cx="4140000" cy="232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"/>
          <p:cNvSpPr txBox="1">
            <a:spLocks noGrp="1"/>
          </p:cNvSpPr>
          <p:nvPr>
            <p:ph type="title"/>
          </p:nvPr>
        </p:nvSpPr>
        <p:spPr>
          <a:xfrm>
            <a:off x="585900" y="1447800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Сравнение с предыдущими вариантами</a:t>
            </a:r>
          </a:p>
        </p:txBody>
      </p:sp>
      <p:sp>
        <p:nvSpPr>
          <p:cNvPr id="290" name="Google Shape;290;p6"/>
          <p:cNvSpPr txBox="1">
            <a:spLocks noGrp="1"/>
          </p:cNvSpPr>
          <p:nvPr>
            <p:ph type="body" idx="1"/>
          </p:nvPr>
        </p:nvSpPr>
        <p:spPr>
          <a:xfrm>
            <a:off x="585900" y="2023750"/>
            <a:ext cx="4850400" cy="3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ПК 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удалённый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рабочий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стол</a:t>
            </a:r>
            <a:r>
              <a:rPr sz="1200" dirty="0">
                <a:solidFill>
                  <a:srgbClr val="1A1A1A"/>
                </a:solidFill>
                <a:latin typeface="Arial"/>
              </a:rPr>
              <a:t>: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—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быстрый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старт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но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общий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рабочий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стол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конфликты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пользователей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лишний</a:t>
            </a:r>
            <a:r>
              <a:rPr sz="1200" dirty="0">
                <a:solidFill>
                  <a:srgbClr val="1A1A1A"/>
                </a:solidFill>
                <a:latin typeface="Arial"/>
              </a:rPr>
              <a:t> ПК в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лаборатории</a:t>
            </a:r>
            <a:r>
              <a:rPr sz="12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0" indent="0" algn="l"/>
            <a:endParaRPr sz="1200" dirty="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200" dirty="0" err="1">
                <a:solidFill>
                  <a:srgbClr val="1A1A1A"/>
                </a:solidFill>
                <a:latin typeface="Arial"/>
              </a:rPr>
              <a:t>Веб-стенд</a:t>
            </a:r>
            <a:r>
              <a:rPr sz="1200" dirty="0">
                <a:solidFill>
                  <a:srgbClr val="1A1A1A"/>
                </a:solidFill>
                <a:latin typeface="Arial"/>
              </a:rPr>
              <a:t> 2025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года</a:t>
            </a:r>
            <a:r>
              <a:rPr sz="1200" dirty="0">
                <a:solidFill>
                  <a:srgbClr val="1A1A1A"/>
                </a:solidFill>
                <a:latin typeface="Arial"/>
              </a:rPr>
              <a:t>: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—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правильная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идея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веб-доступа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но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сложное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развёртывание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мало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документации</a:t>
            </a:r>
            <a:r>
              <a:rPr sz="1200" dirty="0">
                <a:solidFill>
                  <a:srgbClr val="1A1A1A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тяжёлое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сопровождение</a:t>
            </a:r>
            <a:r>
              <a:rPr sz="12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0" indent="0" algn="l"/>
            <a:endParaRPr sz="1200" dirty="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200" dirty="0" err="1">
                <a:solidFill>
                  <a:srgbClr val="1A1A1A"/>
                </a:solidFill>
                <a:latin typeface="Arial"/>
              </a:rPr>
              <a:t>Решение</a:t>
            </a:r>
            <a:r>
              <a:rPr sz="1200" dirty="0">
                <a:solidFill>
                  <a:srgbClr val="1A1A1A"/>
                </a:solidFill>
                <a:latin typeface="Arial"/>
              </a:rPr>
              <a:t> 2372: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изолированные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заявки</a:t>
            </a:r>
            <a:r>
              <a:rPr sz="1200" dirty="0">
                <a:solidFill>
                  <a:srgbClr val="1A1A1A"/>
                </a:solidFill>
                <a:latin typeface="Arial"/>
              </a:rPr>
              <a:t> и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сессии</a:t>
            </a:r>
            <a:r>
              <a:rPr sz="1200" dirty="0">
                <a:solidFill>
                  <a:srgbClr val="1A1A1A"/>
                </a:solidFill>
                <a:latin typeface="Arial"/>
              </a:rPr>
              <a:t>;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админ-панель</a:t>
            </a:r>
            <a:r>
              <a:rPr sz="1200" dirty="0">
                <a:solidFill>
                  <a:srgbClr val="1A1A1A"/>
                </a:solidFill>
                <a:latin typeface="Arial"/>
              </a:rPr>
              <a:t> и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журналы</a:t>
            </a:r>
            <a:r>
              <a:rPr sz="1200" dirty="0">
                <a:solidFill>
                  <a:srgbClr val="1A1A1A"/>
                </a:solidFill>
                <a:latin typeface="Arial"/>
              </a:rPr>
              <a:t>;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установка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сценариями</a:t>
            </a:r>
            <a:r>
              <a:rPr sz="1200" dirty="0">
                <a:solidFill>
                  <a:srgbClr val="1A1A1A"/>
                </a:solidFill>
                <a:latin typeface="Arial"/>
              </a:rPr>
              <a:t>;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масштабирование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несколькими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агентами</a:t>
            </a:r>
            <a:r>
              <a:rPr sz="1200" dirty="0">
                <a:solidFill>
                  <a:srgbClr val="1A1A1A"/>
                </a:solidFill>
                <a:latin typeface="Arial"/>
              </a:rPr>
              <a:t> Raspberry Pi;</a:t>
            </a:r>
          </a:p>
          <a:p>
            <a:pPr marL="0" indent="0" algn="l"/>
            <a:r>
              <a:rPr sz="1200" dirty="0">
                <a:solidFill>
                  <a:srgbClr val="1A1A1A"/>
                </a:solidFill>
                <a:latin typeface="Arial"/>
              </a:rPr>
              <a:t>+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комплект</a:t>
            </a:r>
            <a:r>
              <a:rPr sz="1200" dirty="0">
                <a:solidFill>
                  <a:srgbClr val="1A1A1A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документации</a:t>
            </a:r>
            <a:r>
              <a:rPr sz="12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91" name="Google Shape;291;p6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Сравнение</a:t>
            </a:r>
          </a:p>
        </p:txBody>
      </p:sp>
      <p:sp>
        <p:nvSpPr>
          <p:cNvPr id="292" name="Google Shape;292;p6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295" name="Picture 294" descr="04_fpg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11474" y="2099040"/>
            <a:ext cx="5292000" cy="2976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a50c68461_4_23"/>
          <p:cNvSpPr txBox="1">
            <a:spLocks noGrp="1"/>
          </p:cNvSpPr>
          <p:nvPr>
            <p:ph type="title"/>
          </p:nvPr>
        </p:nvSpPr>
        <p:spPr>
          <a:xfrm>
            <a:off x="585900" y="1078975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Принцип работы</a:t>
            </a:r>
            <a:endParaRPr/>
          </a:p>
        </p:txBody>
      </p:sp>
      <p:sp>
        <p:nvSpPr>
          <p:cNvPr id="300" name="Google Shape;300;g3ea50c68461_4_23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Принцип работы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01" name="Google Shape;301;g3ea50c68461_4_23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02" name="Google Shape;302;g3ea50c68461_4_23"/>
          <p:cNvSpPr txBox="1">
            <a:spLocks noGrp="1"/>
          </p:cNvSpPr>
          <p:nvPr>
            <p:ph type="body" idx="1"/>
          </p:nvPr>
        </p:nvSpPr>
        <p:spPr>
          <a:xfrm>
            <a:off x="548640" y="1417320"/>
            <a:ext cx="9875520" cy="361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/>
            <a:r>
              <a:rPr lang="ru-RU" sz="1600" dirty="0" smtClean="0">
                <a:solidFill>
                  <a:srgbClr val="000000"/>
                </a:solidFill>
                <a:latin typeface="Arial"/>
              </a:rPr>
              <a:t>1. Пользователь входит в веб-интерфейс и выбирает свободный стенд.</a:t>
            </a:r>
            <a:endParaRPr sz="1400" dirty="0"/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2.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асинхронной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задачи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загружает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файл</a:t>
            </a:r>
            <a:r>
              <a:rPr sz="1600" dirty="0">
                <a:solidFill>
                  <a:srgbClr val="000000"/>
                </a:solidFill>
                <a:latin typeface="Arial"/>
              </a:rPr>
              <a:t> SVF и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сценарий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TXT.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3.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Сервер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создаёт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заявку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проверяет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доступность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стенда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передаёт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задачу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агенту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4.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Агент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программирует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DE10-Lite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через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OpenOCD</a:t>
            </a:r>
            <a:r>
              <a:rPr sz="16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выполняет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команды</a:t>
            </a:r>
            <a:r>
              <a:rPr sz="1600" dirty="0">
                <a:solidFill>
                  <a:srgbClr val="000000"/>
                </a:solidFill>
                <a:latin typeface="Arial"/>
              </a:rPr>
              <a:t> GPIO.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5.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Камера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фиксирует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ход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выполнения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результат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сохраняется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в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заявке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6. В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интерактивном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режиме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сервер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выдаёт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эксклюзивную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сессию</a:t>
            </a:r>
            <a:r>
              <a:rPr sz="16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допускает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параллельного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доступа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к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той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же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ячейке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303" name="Google Shape;303;g3ea50c68461_4_23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a50c68461_4_39"/>
          <p:cNvSpPr txBox="1">
            <a:spLocks noGrp="1"/>
          </p:cNvSpPr>
          <p:nvPr>
            <p:ph type="title"/>
          </p:nvPr>
        </p:nvSpPr>
        <p:spPr>
          <a:xfrm>
            <a:off x="585900" y="1078975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Проверка перед запуском</a:t>
            </a:r>
            <a:endParaRPr/>
          </a:p>
        </p:txBody>
      </p:sp>
      <p:sp>
        <p:nvSpPr>
          <p:cNvPr id="309" name="Google Shape;309;g3ea50c68461_4_39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Проверка перед запуском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10" name="Google Shape;310;g3ea50c68461_4_39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11" name="Google Shape;311;g3ea50c68461_4_39"/>
          <p:cNvSpPr txBox="1">
            <a:spLocks noGrp="1"/>
          </p:cNvSpPr>
          <p:nvPr>
            <p:ph type="body" idx="1"/>
          </p:nvPr>
        </p:nvSpPr>
        <p:spPr>
          <a:xfrm>
            <a:off x="585900" y="1732800"/>
            <a:ext cx="5400000" cy="4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fontScale="92500"/>
          </a:bodyPr>
          <a:lstStyle/>
          <a:p>
            <a:pPr mar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800" dirty="0" err="1">
                <a:latin typeface="Arial"/>
              </a:rPr>
              <a:t>Перед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аппаратным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запуском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выполняются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проверки</a:t>
            </a:r>
            <a:r>
              <a:rPr sz="1800" dirty="0">
                <a:latin typeface="Arial"/>
              </a:rPr>
              <a:t>, </a:t>
            </a:r>
            <a:r>
              <a:rPr sz="1800" dirty="0" err="1">
                <a:latin typeface="Arial"/>
              </a:rPr>
              <a:t>которые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снижают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риск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некорректной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работы</a:t>
            </a:r>
            <a:r>
              <a:rPr sz="1800" dirty="0">
                <a:latin typeface="Arial"/>
              </a:rPr>
              <a:t> </a:t>
            </a:r>
            <a:r>
              <a:rPr sz="1800" dirty="0" err="1">
                <a:latin typeface="Arial"/>
              </a:rPr>
              <a:t>стенда</a:t>
            </a:r>
            <a:r>
              <a:rPr sz="1800" dirty="0">
                <a:latin typeface="Arial"/>
              </a:rPr>
              <a:t>.</a:t>
            </a:r>
            <a:endParaRPr sz="1400" dirty="0"/>
          </a:p>
          <a:p>
            <a:pPr marL="0" indent="0" algn="l"/>
            <a:endParaRPr sz="1400" dirty="0"/>
          </a:p>
          <a:p>
            <a:pPr marL="0" indent="0" algn="l"/>
            <a:r>
              <a:rPr lang="ru-RU" sz="1800" dirty="0" smtClean="0">
                <a:latin typeface="Arial"/>
              </a:rPr>
              <a:t>Проверяется тип загружаемого файла, синтаксис сценария, доступность выбранной ячейки, права пользователя и состояние агента.</a:t>
            </a:r>
          </a:p>
          <a:p>
            <a:pPr marL="0" indent="0" algn="l"/>
            <a:endParaRPr sz="1800" dirty="0"/>
          </a:p>
          <a:p>
            <a:pPr marL="0" indent="0" algn="l"/>
            <a:r>
              <a:rPr lang="ru-RU" sz="1800" dirty="0" smtClean="0">
                <a:latin typeface="Arial"/>
              </a:rPr>
              <a:t>Для GPIO разрешены только команды над восемью логическими линиями. Сервер не хранит собственную таблицу BCM: фактическую распиновку сообщает агент, поэтому интерфейс показывает именно подключение выбранной ячейки.</a:t>
            </a:r>
          </a:p>
        </p:txBody>
      </p:sp>
      <p:sp>
        <p:nvSpPr>
          <p:cNvPr id="312" name="Google Shape;312;g3ea50c68461_4_39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313" name="Picture 312" descr="06b_docs_pin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16389" y="2226720"/>
            <a:ext cx="4390400" cy="246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>
            <a:spLocks noGrp="1"/>
          </p:cNvSpPr>
          <p:nvPr>
            <p:ph type="title"/>
          </p:nvPr>
        </p:nvSpPr>
        <p:spPr>
          <a:xfrm>
            <a:off x="573050" y="1286950"/>
            <a:ext cx="534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Программная архитектура стенда</a:t>
            </a:r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Программная архитектура стенда</a:t>
            </a:r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502920" y="1755648"/>
            <a:ext cx="489204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000000"/>
                </a:solidFill>
                <a:latin typeface="Arial"/>
              </a:rPr>
              <a:t>Программная часть включает три ключевых компонента:</a:t>
            </a:r>
            <a:endParaRPr sz="1600" dirty="0">
              <a:solidFill>
                <a:srgbClr val="0E2D69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sz="1600" dirty="0">
              <a:solidFill>
                <a:srgbClr val="0E2D69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sz="1520">
                <a:solidFill>
                  <a:srgbClr val="000000"/>
                </a:solidFill>
                <a:latin typeface="Arial"/>
              </a:rPr>
              <a:t>Веб-интерфейс — React</a:t>
            </a:r>
          </a:p>
          <a:p>
            <a:pPr marL="0" indent="0" algn="l">
              <a:lnSpc>
                <a:spcPct val="100000"/>
              </a:lnSpc>
            </a:pPr>
            <a:r>
              <a:rPr sz="1420">
                <a:solidFill>
                  <a:srgbClr val="000000"/>
                </a:solidFill>
                <a:latin typeface="Arial"/>
              </a:rPr>
              <a:t>авторизация, выбор стенда, загрузка файлов, заявки, результаты, интерактивное управление и документация.</a:t>
            </a:r>
          </a:p>
          <a:p>
            <a:pPr marL="0" indent="0" algn="l">
              <a:lnSpc>
                <a:spcPct val="100000"/>
              </a:lnSpc>
            </a:pPr>
            <a:endParaRPr sz="1600">
              <a:solidFill>
                <a:srgbClr val="000000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</a:pPr>
            <a:r>
              <a:rPr sz="1520">
                <a:solidFill>
                  <a:srgbClr val="000000"/>
                </a:solidFill>
                <a:latin typeface="Arial"/>
              </a:rPr>
              <a:t>Сервер — Django</a:t>
            </a:r>
          </a:p>
          <a:p>
            <a:pPr marL="0" indent="0" algn="l">
              <a:lnSpc>
                <a:spcPct val="100000"/>
              </a:lnSpc>
            </a:pPr>
            <a:r>
              <a:rPr sz="1420">
                <a:solidFill>
                  <a:srgbClr val="000000"/>
                </a:solidFill>
                <a:latin typeface="Arial"/>
              </a:rPr>
              <a:t>учёт пользователей, стендов, заданий, сессий, прав доступа, журналов и API для агента.</a:t>
            </a:r>
          </a:p>
          <a:p>
            <a:pPr marL="0" indent="0" algn="l">
              <a:lnSpc>
                <a:spcPct val="100000"/>
              </a:lnSpc>
            </a:pPr>
            <a:endParaRPr sz="1600">
              <a:solidFill>
                <a:srgbClr val="000000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</a:pPr>
            <a:r>
              <a:rPr sz="1520">
                <a:solidFill>
                  <a:srgbClr val="000000"/>
                </a:solidFill>
                <a:latin typeface="Arial"/>
              </a:rPr>
              <a:t>Агент оборудования — Python</a:t>
            </a:r>
          </a:p>
          <a:p>
            <a:pPr marL="0" indent="0" algn="l">
              <a:lnSpc>
                <a:spcPct val="100000"/>
              </a:lnSpc>
            </a:pPr>
            <a:r>
              <a:rPr sz="1420">
                <a:solidFill>
                  <a:srgbClr val="000000"/>
                </a:solidFill>
                <a:latin typeface="Arial"/>
              </a:rPr>
              <a:t>OpenOCD, USB-Blaster, камера V4L2/ffmpeg, GPIO через lgpio, аппаратный и имитационный режимы.</a:t>
            </a:r>
          </a:p>
        </p:txBody>
      </p:sp>
      <p:sp>
        <p:nvSpPr>
          <p:cNvPr id="321" name="Google Shape;321;p16"/>
          <p:cNvSpPr txBox="1"/>
          <p:nvPr/>
        </p:nvSpPr>
        <p:spPr>
          <a:xfrm>
            <a:off x="5715000" y="426110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000000"/>
                </a:solidFill>
                <a:latin typeface="Arial"/>
              </a:rPr>
              <a:t>Интерфейс выбора режима работы стенда</a:t>
            </a:r>
            <a:endParaRPr sz="16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324" name="Picture 323" descr="04_fpg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0" y="1719072"/>
            <a:ext cx="457200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a50c68461_4_3"/>
          <p:cNvSpPr txBox="1">
            <a:spLocks noGrp="1"/>
          </p:cNvSpPr>
          <p:nvPr>
            <p:ph type="title"/>
          </p:nvPr>
        </p:nvSpPr>
        <p:spPr>
          <a:xfrm>
            <a:off x="585900" y="1033600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Пользовательский сценарий</a:t>
            </a:r>
            <a:endParaRPr/>
          </a:p>
        </p:txBody>
      </p:sp>
      <p:sp>
        <p:nvSpPr>
          <p:cNvPr id="329" name="Google Shape;329;g3ea50c68461_4_3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Пользовательский сценарий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30" name="Google Shape;330;g3ea50c68461_4_3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31" name="Google Shape;331;g3ea50c68461_4_3"/>
          <p:cNvSpPr txBox="1">
            <a:spLocks noGrp="1"/>
          </p:cNvSpPr>
          <p:nvPr>
            <p:ph type="body" idx="1"/>
          </p:nvPr>
        </p:nvSpPr>
        <p:spPr>
          <a:xfrm>
            <a:off x="558000" y="1620000"/>
            <a:ext cx="52560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indent="0" algn="l" rtl="0"/>
            <a:r>
              <a:rPr sz="1500">
                <a:solidFill>
                  <a:srgbClr val="000000"/>
                </a:solidFill>
                <a:latin typeface="Arial"/>
              </a:rPr>
              <a:t>Пользовательский сценарий:</a:t>
            </a:r>
            <a:endParaRPr sz="1400"/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1) Подготовка: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скомпилировать проект DE10-Lite в Intel Quartus Prime;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экспортировать файл .svf из Quartus Programmer;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подготовить сценарий .txt при асинхронном запуске.</a:t>
            </a:r>
          </a:p>
          <a:p>
            <a:pPr marL="0" indent="0" algn="l">
              <a:lnSpc>
                <a:spcPct val="100000"/>
              </a:lnSpc>
            </a:pPr>
            <a:endParaRPr sz="1500">
              <a:solidFill>
                <a:srgbClr val="000000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2) Работа со стендом: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войти в систему или зарегистрироваться;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выбрать режим работы в разделе FPGA;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отправить задание либо начать сессию;</a:t>
            </a:r>
          </a:p>
          <a:p>
            <a:pPr marL="0" indent="0" algn="l">
              <a:lnSpc>
                <a:spcPct val="100000"/>
              </a:lnSpc>
            </a:pPr>
            <a:r>
              <a:rPr sz="1500">
                <a:solidFill>
                  <a:srgbClr val="000000"/>
                </a:solidFill>
                <a:latin typeface="Arial"/>
              </a:rPr>
              <a:t>— наблюдать видео и получать результат в разделе заявок.</a:t>
            </a:r>
          </a:p>
        </p:txBody>
      </p:sp>
      <p:sp>
        <p:nvSpPr>
          <p:cNvPr id="332" name="Google Shape;332;g3ea50c68461_4_3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333" name="Picture 332" descr="01_logi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28000" y="1224000"/>
            <a:ext cx="2015999" cy="1133999"/>
          </a:xfrm>
          <a:prstGeom prst="rect">
            <a:avLst/>
          </a:prstGeom>
        </p:spPr>
      </p:pic>
      <p:pic>
        <p:nvPicPr>
          <p:cNvPr id="334" name="Picture 333" descr="02_registe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60000" y="1224000"/>
            <a:ext cx="2015999" cy="1133999"/>
          </a:xfrm>
          <a:prstGeom prst="rect">
            <a:avLst/>
          </a:prstGeom>
        </p:spPr>
      </p:pic>
      <p:pic>
        <p:nvPicPr>
          <p:cNvPr id="335" name="Picture 334" descr="08_fpga_job_sent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28000" y="3024000"/>
            <a:ext cx="4390400" cy="246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585900" y="1447800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Асинхронные задания</a:t>
            </a:r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body" idx="1"/>
          </p:nvPr>
        </p:nvSpPr>
        <p:spPr>
          <a:xfrm>
            <a:off x="630000" y="1890000"/>
            <a:ext cx="48960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B2E6D"/>
                </a:solidFill>
                <a:latin typeface="Arial"/>
              </a:rPr>
              <a:t>Асинхронное задание проходит состояния waiting, running, completed или error.</a:t>
            </a:r>
            <a:endParaRPr sz="1600"/>
          </a:p>
        </p:txBody>
      </p:sp>
      <p:sp>
        <p:nvSpPr>
          <p:cNvPr id="339" name="Google Shape;339;p37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Асинхронные задания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40" name="Google Shape;340;p37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42" name="Google Shape;342;p37"/>
          <p:cNvSpPr txBox="1">
            <a:spLocks noGrp="1"/>
          </p:cNvSpPr>
          <p:nvPr>
            <p:ph type="body" idx="1"/>
          </p:nvPr>
        </p:nvSpPr>
        <p:spPr>
          <a:xfrm>
            <a:off x="6156000" y="1890000"/>
            <a:ext cx="4392000" cy="18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 err="1">
                <a:solidFill>
                  <a:srgbClr val="0B2E6D"/>
                </a:solidFill>
                <a:latin typeface="Arial"/>
              </a:rPr>
              <a:t>Результат</a:t>
            </a:r>
            <a:r>
              <a:rPr sz="1400" dirty="0">
                <a:solidFill>
                  <a:srgbClr val="0B2E6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включает</a:t>
            </a:r>
            <a:r>
              <a:rPr sz="1400" dirty="0">
                <a:solidFill>
                  <a:srgbClr val="0B2E6D"/>
                </a:solidFill>
                <a:latin typeface="Arial"/>
              </a:rPr>
              <a:t>:</a:t>
            </a:r>
            <a:endParaRPr sz="1400" b="1" dirty="0"/>
          </a:p>
          <a:p>
            <a:pPr marL="0" indent="0" algn="l"/>
            <a:r>
              <a:rPr sz="1400" dirty="0">
                <a:solidFill>
                  <a:srgbClr val="0B2E6D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итоговый</a:t>
            </a:r>
            <a:r>
              <a:rPr sz="1400" dirty="0">
                <a:solidFill>
                  <a:srgbClr val="0B2E6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статус</a:t>
            </a:r>
            <a:r>
              <a:rPr sz="1400" dirty="0">
                <a:solidFill>
                  <a:srgbClr val="0B2E6D"/>
                </a:solidFill>
                <a:latin typeface="Arial"/>
              </a:rPr>
              <a:t>;</a:t>
            </a:r>
          </a:p>
          <a:p>
            <a:pPr marL="0" indent="0" algn="l"/>
            <a:r>
              <a:rPr sz="1400" dirty="0">
                <a:solidFill>
                  <a:srgbClr val="0B2E6D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диагностический</a:t>
            </a:r>
            <a:r>
              <a:rPr sz="1400" dirty="0">
                <a:solidFill>
                  <a:srgbClr val="0B2E6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журнал</a:t>
            </a:r>
            <a:r>
              <a:rPr sz="1400" dirty="0">
                <a:solidFill>
                  <a:srgbClr val="0B2E6D"/>
                </a:solidFill>
                <a:latin typeface="Arial"/>
              </a:rPr>
              <a:t>;</a:t>
            </a:r>
          </a:p>
          <a:p>
            <a:pPr marL="0" indent="0" algn="l"/>
            <a:r>
              <a:rPr sz="1400" dirty="0">
                <a:solidFill>
                  <a:srgbClr val="0B2E6D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файл</a:t>
            </a:r>
            <a:r>
              <a:rPr sz="1400" dirty="0">
                <a:solidFill>
                  <a:srgbClr val="0B2E6D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B2E6D"/>
                </a:solidFill>
                <a:latin typeface="Arial"/>
              </a:rPr>
              <a:t>видеозаписи</a:t>
            </a:r>
            <a:r>
              <a:rPr sz="1400" dirty="0">
                <a:solidFill>
                  <a:srgbClr val="0B2E6D"/>
                </a:solidFill>
                <a:latin typeface="Arial"/>
              </a:rPr>
              <a:t>.</a:t>
            </a:r>
          </a:p>
          <a:p>
            <a:pPr marL="0" indent="0" algn="l"/>
            <a:endParaRPr sz="1400" dirty="0">
              <a:solidFill>
                <a:srgbClr val="0B2E6D"/>
              </a:solidFill>
            </a:endParaRPr>
          </a:p>
          <a:p>
            <a:pPr marL="0" indent="0" algn="l"/>
            <a:r>
              <a:rPr lang="ru-RU" sz="1400" dirty="0" smtClean="0">
                <a:solidFill>
                  <a:srgbClr val="0B2E6D"/>
                </a:solidFill>
                <a:latin typeface="Arial"/>
              </a:rPr>
              <a:t>При ошибке пользователь видит причину: недоступность агента, сбой OpenOCD, некорректный SVF-файл или ошибка сценария.</a:t>
            </a:r>
          </a:p>
        </p:txBody>
      </p:sp>
      <p:sp>
        <p:nvSpPr>
          <p:cNvPr id="344" name="Google Shape;344;p37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345" name="Picture 344" descr="10_results_waiting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5901" y="2402401"/>
            <a:ext cx="3531946" cy="1986720"/>
          </a:xfrm>
          <a:prstGeom prst="rect">
            <a:avLst/>
          </a:prstGeom>
        </p:spPr>
      </p:pic>
      <p:pic>
        <p:nvPicPr>
          <p:cNvPr id="346" name="Picture 345" descr="11_results_don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5900" y="4245277"/>
            <a:ext cx="3537884" cy="19900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"/>
          <p:cNvSpPr txBox="1">
            <a:spLocks noGrp="1"/>
          </p:cNvSpPr>
          <p:nvPr>
            <p:ph type="title"/>
          </p:nvPr>
        </p:nvSpPr>
        <p:spPr>
          <a:xfrm>
            <a:off x="585900" y="1447800"/>
            <a:ext cx="5721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Интерактивная сессия</a:t>
            </a:r>
            <a:endParaRPr/>
          </a:p>
        </p:txBody>
      </p:sp>
      <p:sp>
        <p:nvSpPr>
          <p:cNvPr id="350" name="Google Shape;350;p8"/>
          <p:cNvSpPr txBox="1">
            <a:spLocks noGrp="1"/>
          </p:cNvSpPr>
          <p:nvPr>
            <p:ph type="body" idx="1"/>
          </p:nvPr>
        </p:nvSpPr>
        <p:spPr>
          <a:xfrm>
            <a:off x="585900" y="1926275"/>
            <a:ext cx="5346600" cy="4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latin typeface="Arial"/>
              </a:rPr>
              <a:t>Интерактивная сессия предназначена для работы с платой в режиме реального времени.</a:t>
            </a:r>
          </a:p>
          <a:p>
            <a:pPr marL="0" indent="0" algn="l"/>
            <a:endParaRPr sz="1700"/>
          </a:p>
          <a:p>
            <a:pPr marL="0" indent="0" algn="l"/>
            <a:r>
              <a:rPr sz="1700">
                <a:latin typeface="Arial"/>
              </a:rPr>
              <a:t>Особенности:</a:t>
            </a:r>
          </a:p>
          <a:p>
            <a:pPr marL="0" indent="0" algn="l"/>
            <a:r>
              <a:rPr sz="1700">
                <a:latin typeface="Arial"/>
              </a:rPr>
              <a:t>— стенд блокируется за одним пользователем на время сессии;</a:t>
            </a:r>
          </a:p>
          <a:p>
            <a:pPr marL="0" indent="0" algn="l"/>
            <a:r>
              <a:rPr sz="1700">
                <a:latin typeface="Arial"/>
              </a:rPr>
              <a:t>— доступно живое видео с камеры;</a:t>
            </a:r>
          </a:p>
          <a:p>
            <a:pPr marL="0" indent="0" algn="l"/>
            <a:r>
              <a:rPr sz="1700">
                <a:latin typeface="Arial"/>
              </a:rPr>
              <a:t>— можно загрузить новый SVF без завершения сессии;</a:t>
            </a:r>
          </a:p>
          <a:p>
            <a:pPr marL="0" indent="0" algn="l"/>
            <a:r>
              <a:rPr sz="1700">
                <a:latin typeface="Arial"/>
              </a:rPr>
              <a:t>— каждая из восьми GPIO-линий управляется из интерфейса;</a:t>
            </a:r>
          </a:p>
          <a:p>
            <a:pPr marL="0" indent="0" algn="l"/>
            <a:r>
              <a:rPr sz="1700">
                <a:latin typeface="Arial"/>
              </a:rPr>
              <a:t>— после завершения линии освобождаются, а стенд снова становится доступным.</a:t>
            </a:r>
          </a:p>
        </p:txBody>
      </p:sp>
      <p:sp>
        <p:nvSpPr>
          <p:cNvPr id="351" name="Google Shape;351;p8"/>
          <p:cNvSpPr txBox="1">
            <a:spLocks noGrp="1"/>
          </p:cNvSpPr>
          <p:nvPr>
            <p:ph type="body" idx="5"/>
          </p:nvPr>
        </p:nvSpPr>
        <p:spPr>
          <a:xfrm>
            <a:off x="6259907" y="534700"/>
            <a:ext cx="4012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Интерактивная сессия</a:t>
            </a:r>
            <a:endParaRPr/>
          </a:p>
        </p:txBody>
      </p:sp>
      <p:sp>
        <p:nvSpPr>
          <p:cNvPr id="352" name="Google Shape;352;p8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 sz="1000">
              <a:solidFill>
                <a:srgbClr val="0F2C68"/>
              </a:solidFill>
            </a:endParaRPr>
          </a:p>
        </p:txBody>
      </p:sp>
      <p:pic>
        <p:nvPicPr>
          <p:cNvPr id="355" name="Picture 354" descr="13_session_pin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48000" y="1692000"/>
            <a:ext cx="4499200" cy="253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>
            <a:spLocks noGrp="1"/>
          </p:cNvSpPr>
          <p:nvPr>
            <p:ph type="title"/>
          </p:nvPr>
        </p:nvSpPr>
        <p:spPr>
          <a:xfrm>
            <a:off x="568350" y="1068244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2400">
                <a:solidFill>
                  <a:srgbClr val="0B2E6F"/>
                </a:solidFill>
                <a:latin typeface="Arial"/>
              </a:rPr>
              <a:t>Установка и администрирование</a:t>
            </a:r>
          </a:p>
        </p:txBody>
      </p:sp>
      <p:sp>
        <p:nvSpPr>
          <p:cNvPr id="360" name="Google Shape;360;p40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Установка и администрирование</a:t>
            </a:r>
          </a:p>
        </p:txBody>
      </p:sp>
      <p:sp>
        <p:nvSpPr>
          <p:cNvPr id="361" name="Google Shape;361;p4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62" name="Google Shape;362;p40"/>
          <p:cNvSpPr txBox="1">
            <a:spLocks noGrp="1"/>
          </p:cNvSpPr>
          <p:nvPr>
            <p:ph type="body" idx="3"/>
          </p:nvPr>
        </p:nvSpPr>
        <p:spPr>
          <a:xfrm>
            <a:off x="622462" y="1845244"/>
            <a:ext cx="5742000" cy="3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lnSpcReduction="10000"/>
          </a:bodyPr>
          <a:lstStyle/>
          <a:p>
            <a:pPr marL="0" indent="0" algn="l"/>
            <a:r>
              <a:rPr sz="1250" dirty="0" err="1">
                <a:solidFill>
                  <a:srgbClr val="1A1A1A"/>
                </a:solidFill>
                <a:latin typeface="Arial"/>
              </a:rPr>
              <a:t>Установка</a:t>
            </a:r>
            <a:r>
              <a:rPr sz="1250" dirty="0">
                <a:solidFill>
                  <a:srgbClr val="1A1A1A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выполняется</a:t>
            </a:r>
            <a:r>
              <a:rPr sz="1250" dirty="0">
                <a:solidFill>
                  <a:srgbClr val="1A1A1A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штатными</a:t>
            </a:r>
            <a:r>
              <a:rPr sz="1250" dirty="0">
                <a:solidFill>
                  <a:srgbClr val="1A1A1A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сценариями</a:t>
            </a:r>
            <a:r>
              <a:rPr sz="1250" dirty="0">
                <a:solidFill>
                  <a:srgbClr val="1A1A1A"/>
                </a:solidFill>
                <a:latin typeface="Arial"/>
              </a:rPr>
              <a:t>:</a:t>
            </a:r>
          </a:p>
          <a:p>
            <a:pPr marL="0" indent="0" algn="l"/>
            <a:endParaRPr sz="1250" dirty="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sz="1250" dirty="0">
                <a:solidFill>
                  <a:srgbClr val="1A1A1A"/>
                </a:solidFill>
                <a:latin typeface="Arial"/>
              </a:rPr>
              <a:t>./server/install.sh</a:t>
            </a:r>
          </a:p>
          <a:p>
            <a:pPr marL="0" indent="0" algn="l"/>
            <a:r>
              <a:rPr sz="1250" dirty="0">
                <a:solidFill>
                  <a:srgbClr val="1A1A1A"/>
                </a:solidFill>
                <a:latin typeface="Arial"/>
              </a:rPr>
              <a:t>./agent/install.sh --mode hardware</a:t>
            </a:r>
          </a:p>
          <a:p>
            <a:pPr marL="0" indent="0" algn="l"/>
            <a:endParaRPr sz="1250" dirty="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lang="ru-RU" sz="1250" dirty="0" smtClean="0">
                <a:solidFill>
                  <a:srgbClr val="1A1A1A"/>
                </a:solidFill>
                <a:latin typeface="Arial"/>
              </a:rPr>
              <a:t>Сценарии создают виртуальные окружения, .env, systemd-службы, секреты и токены. Для аппаратного режима устанавливаются OpenOCD, ffmpeg и python3-lgpio.</a:t>
            </a:r>
          </a:p>
          <a:p>
            <a:pPr marL="0" indent="0" algn="l"/>
            <a:endParaRPr sz="1250" dirty="0">
              <a:solidFill>
                <a:srgbClr val="1A1A1A"/>
              </a:solidFill>
              <a:latin typeface="Arial"/>
            </a:endParaRPr>
          </a:p>
          <a:p>
            <a:pPr marL="0" indent="0" algn="l"/>
            <a:r>
              <a:rPr lang="ru-RU" sz="1250" dirty="0" smtClean="0">
                <a:solidFill>
                  <a:srgbClr val="1A1A1A"/>
                </a:solidFill>
                <a:latin typeface="Arial"/>
              </a:rPr>
              <a:t>Администратор управляет стендами, видит состояние агентов, заявки, сессии и журналы. Для отладки предусмотрен simulation-режим без платы и камеры.</a:t>
            </a:r>
          </a:p>
        </p:txBody>
      </p:sp>
      <p:sp>
        <p:nvSpPr>
          <p:cNvPr id="363" name="Google Shape;363;p40"/>
          <p:cNvSpPr txBox="1"/>
          <p:nvPr/>
        </p:nvSpPr>
        <p:spPr>
          <a:xfrm>
            <a:off x="5916408" y="1760759"/>
            <a:ext cx="6066000" cy="4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700" b="1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365" name="Picture 36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26698" y="2357349"/>
            <a:ext cx="4428000" cy="2490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Надёжность и безопасность</a:t>
            </a:r>
          </a:p>
        </p:txBody>
      </p:sp>
      <p:sp>
        <p:nvSpPr>
          <p:cNvPr id="371" name="Google Shape;371;p4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body" idx="3"/>
          </p:nvPr>
        </p:nvSpPr>
        <p:spPr>
          <a:xfrm>
            <a:off x="658368" y="1810512"/>
            <a:ext cx="5166360" cy="361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Для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надёжной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работы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стенда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реализованы</a:t>
            </a:r>
            <a:r>
              <a:rPr sz="1400" dirty="0">
                <a:solidFill>
                  <a:srgbClr val="000000"/>
                </a:solidFill>
                <a:latin typeface="Arial"/>
              </a:rPr>
              <a:t>:</a:t>
            </a:r>
            <a:endParaRPr dirty="0"/>
          </a:p>
          <a:p>
            <a:pPr marL="0" indent="0" algn="l">
              <a:lnSpc>
                <a:spcPct val="100000"/>
              </a:lnSpc>
            </a:pPr>
            <a:r>
              <a:rPr sz="14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эксклюзивная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выдача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аппаратной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ячейки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одному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пользователю</a:t>
            </a:r>
            <a:r>
              <a:rPr sz="14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4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состояния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offline, idle и busy и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регулярные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heartbeat-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сообщения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агента</a:t>
            </a:r>
            <a:r>
              <a:rPr sz="14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4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разделение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прав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обычного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пользователя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администратора</a:t>
            </a:r>
            <a:r>
              <a:rPr sz="14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4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освобождение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GPIO-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линий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после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задания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или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интерактивной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сессии</a:t>
            </a:r>
            <a:r>
              <a:rPr sz="14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4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безопасное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состояние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линий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после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завершения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работы</a:t>
            </a:r>
            <a:r>
              <a:rPr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>
              <a:lnSpc>
                <a:spcPct val="100000"/>
              </a:lnSpc>
            </a:pPr>
            <a:endParaRPr sz="1600" dirty="0">
              <a:solidFill>
                <a:srgbClr val="000000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</a:pPr>
            <a:r>
              <a:rPr lang="ru-RU" sz="1400" dirty="0" smtClean="0">
                <a:solidFill>
                  <a:srgbClr val="000000"/>
                </a:solidFill>
                <a:latin typeface="Arial"/>
              </a:rPr>
              <a:t>Такой подход снижает риск конфликтов между пользователями и упрощает диагностику.</a:t>
            </a:r>
          </a:p>
        </p:txBody>
      </p:sp>
      <p:sp>
        <p:nvSpPr>
          <p:cNvPr id="374" name="Google Shape;374;p4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375" name="Picture 374" descr="09_monitor_job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26480" y="2057400"/>
            <a:ext cx="4343400" cy="2514600"/>
          </a:xfrm>
          <a:prstGeom prst="rect">
            <a:avLst/>
          </a:prstGeom>
        </p:spPr>
      </p:pic>
      <p:sp>
        <p:nvSpPr>
          <p:cNvPr id="376" name="TextBox 375"/>
          <p:cNvSpPr txBox="1"/>
          <p:nvPr/>
        </p:nvSpPr>
        <p:spPr>
          <a:xfrm>
            <a:off x="502920" y="1115568"/>
            <a:ext cx="7132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/>
            <a:r>
              <a:rPr sz="2800">
                <a:solidFill>
                  <a:srgbClr val="0C3378"/>
                </a:solidFill>
                <a:latin typeface="Arial"/>
              </a:rPr>
              <a:t>Надёжность и безопасность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a4a0bdc9e_12_0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Проверка работоспособности</a:t>
            </a:r>
          </a:p>
        </p:txBody>
      </p:sp>
      <p:sp>
        <p:nvSpPr>
          <p:cNvPr id="381" name="Google Shape;381;g3ea4a0bdc9e_12_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83" name="Google Shape;383;g3ea4a0bdc9e_12_0"/>
          <p:cNvSpPr txBox="1"/>
          <p:nvPr/>
        </p:nvSpPr>
        <p:spPr>
          <a:xfrm>
            <a:off x="6309360" y="495604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</a:pPr>
            <a:r>
              <a:rPr sz="1300" dirty="0" err="1">
                <a:latin typeface="Arial"/>
              </a:rPr>
              <a:t>Проверка</a:t>
            </a:r>
            <a:r>
              <a:rPr sz="1300" dirty="0">
                <a:latin typeface="Arial"/>
              </a:rPr>
              <a:t> </a:t>
            </a:r>
            <a:r>
              <a:rPr sz="1300" dirty="0" err="1">
                <a:latin typeface="Arial"/>
              </a:rPr>
              <a:t>на</a:t>
            </a:r>
            <a:r>
              <a:rPr sz="1300" dirty="0">
                <a:latin typeface="Arial"/>
              </a:rPr>
              <a:t> </a:t>
            </a:r>
            <a:r>
              <a:rPr sz="1300" dirty="0" err="1">
                <a:latin typeface="Arial"/>
              </a:rPr>
              <a:t>реальном</a:t>
            </a:r>
            <a:r>
              <a:rPr sz="1300" dirty="0">
                <a:latin typeface="Arial"/>
              </a:rPr>
              <a:t> </a:t>
            </a:r>
            <a:r>
              <a:rPr sz="1300" dirty="0" err="1">
                <a:latin typeface="Arial"/>
              </a:rPr>
              <a:t>оборудовании</a:t>
            </a:r>
            <a:endParaRPr sz="1650" dirty="0"/>
          </a:p>
        </p:txBody>
      </p:sp>
      <p:sp>
        <p:nvSpPr>
          <p:cNvPr id="384" name="Google Shape;384;g3ea4a0bdc9e_12_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pic>
        <p:nvPicPr>
          <p:cNvPr id="385" name="Picture 384" descr="14_session_flash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63640" y="2011680"/>
            <a:ext cx="3931920" cy="2651760"/>
          </a:xfrm>
          <a:prstGeom prst="rect">
            <a:avLst/>
          </a:prstGeom>
        </p:spPr>
      </p:pic>
      <p:sp>
        <p:nvSpPr>
          <p:cNvPr id="2" name="Текст 1"/>
          <p:cNvSpPr>
            <a:spLocks noGrp="1"/>
          </p:cNvSpPr>
          <p:nvPr>
            <p:ph type="body" idx="3"/>
          </p:nvPr>
        </p:nvSpPr>
        <p:spPr>
          <a:xfrm>
            <a:off x="594360" y="1874519"/>
            <a:ext cx="5166360" cy="3520440"/>
          </a:xfrm>
        </p:spPr>
        <p:txBody>
          <a:bodyPr wrap="square">
            <a:normAutofit fontScale="92500" lnSpcReduction="10000"/>
          </a:bodyPr>
          <a:lstStyle/>
          <a:p>
            <a:pPr marL="0" indent="0"/>
            <a:r>
              <a:rPr lang="ru-RU" sz="1500" dirty="0">
                <a:latin typeface="Arial"/>
              </a:rPr>
              <a:t>Проверены основные сценарии работы:</a:t>
            </a:r>
          </a:p>
          <a:p>
            <a:pPr marL="0" indent="0"/>
            <a:endParaRPr lang="ru-RU" dirty="0"/>
          </a:p>
          <a:p>
            <a:pPr marL="0" indent="0"/>
            <a:r>
              <a:rPr lang="ru-RU" sz="1500" dirty="0">
                <a:latin typeface="Arial"/>
              </a:rPr>
              <a:t>— загрузка SVF и выполнение асинхронного задания;</a:t>
            </a:r>
          </a:p>
          <a:p>
            <a:pPr marL="0" indent="0"/>
            <a:r>
              <a:rPr lang="ru-RU" sz="1500" dirty="0">
                <a:latin typeface="Arial"/>
              </a:rPr>
              <a:t>— интерактивная сессия с живым видео и управлением GPIO;</a:t>
            </a:r>
          </a:p>
          <a:p>
            <a:pPr marL="0" indent="0"/>
            <a:r>
              <a:rPr lang="ru-RU" sz="1500" dirty="0">
                <a:latin typeface="Arial"/>
              </a:rPr>
              <a:t>— работа администратора с мониторингом стендов и заявок;</a:t>
            </a:r>
          </a:p>
          <a:p>
            <a:pPr marL="0" indent="0"/>
            <a:r>
              <a:rPr lang="ru-RU" sz="1500" dirty="0">
                <a:latin typeface="Arial"/>
              </a:rPr>
              <a:t>— запуск </a:t>
            </a:r>
            <a:r>
              <a:rPr lang="ru-RU" sz="1500" dirty="0" err="1">
                <a:latin typeface="Arial"/>
              </a:rPr>
              <a:t>hardware</a:t>
            </a:r>
            <a:r>
              <a:rPr lang="ru-RU" sz="1500" dirty="0">
                <a:latin typeface="Arial"/>
              </a:rPr>
              <a:t>-агента на </a:t>
            </a:r>
            <a:r>
              <a:rPr lang="ru-RU" sz="1500" dirty="0" err="1">
                <a:latin typeface="Arial"/>
              </a:rPr>
              <a:t>Raspberry</a:t>
            </a:r>
            <a:r>
              <a:rPr lang="ru-RU" sz="1500" dirty="0">
                <a:latin typeface="Arial"/>
              </a:rPr>
              <a:t> </a:t>
            </a:r>
            <a:r>
              <a:rPr lang="ru-RU" sz="1500" dirty="0" err="1">
                <a:latin typeface="Arial"/>
              </a:rPr>
              <a:t>Pi</a:t>
            </a:r>
            <a:r>
              <a:rPr lang="ru-RU" sz="1500" dirty="0">
                <a:latin typeface="Arial"/>
              </a:rPr>
              <a:t>;</a:t>
            </a:r>
          </a:p>
          <a:p>
            <a:pPr marL="0" indent="0"/>
            <a:r>
              <a:rPr lang="ru-RU" sz="1500" dirty="0">
                <a:latin typeface="Arial"/>
              </a:rPr>
              <a:t>— запуск </a:t>
            </a:r>
            <a:r>
              <a:rPr lang="ru-RU" sz="1500" dirty="0" err="1">
                <a:latin typeface="Arial"/>
              </a:rPr>
              <a:t>simulation</a:t>
            </a:r>
            <a:r>
              <a:rPr lang="ru-RU" sz="1500" dirty="0">
                <a:latin typeface="Arial"/>
              </a:rPr>
              <a:t>-режима для разработки.</a:t>
            </a:r>
          </a:p>
          <a:p>
            <a:pPr marL="0" indent="0"/>
            <a:endParaRPr lang="ru-RU" dirty="0"/>
          </a:p>
          <a:p>
            <a:pPr marL="0" indent="0"/>
            <a:r>
              <a:rPr lang="ru-RU" sz="1500" dirty="0" smtClean="0">
                <a:latin typeface="Arial"/>
              </a:rPr>
              <a:t>Для воспроизводимой проверки подготовлены Blink и GPIO-test. Отдельно выполнен набор тестов agent/tests: 39 тестов, результат OK.</a:t>
            </a:r>
            <a:endParaRPr lang="en-US" dirty="0"/>
          </a:p>
        </p:txBody>
      </p:sp>
      <p:sp>
        <p:nvSpPr>
          <p:cNvPr id="386" name="TextBox 385"/>
          <p:cNvSpPr txBox="1"/>
          <p:nvPr/>
        </p:nvSpPr>
        <p:spPr>
          <a:xfrm>
            <a:off x="502920" y="1115568"/>
            <a:ext cx="7132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/>
            <a:r>
              <a:rPr sz="2800" dirty="0" err="1">
                <a:solidFill>
                  <a:srgbClr val="0C3378"/>
                </a:solidFill>
                <a:latin typeface="Arial"/>
              </a:rPr>
              <a:t>Проверка</a:t>
            </a:r>
            <a:r>
              <a:rPr sz="2800" dirty="0">
                <a:solidFill>
                  <a:srgbClr val="0C3378"/>
                </a:solidFill>
                <a:latin typeface="Arial"/>
              </a:rPr>
              <a:t> </a:t>
            </a:r>
            <a:r>
              <a:rPr sz="2800" dirty="0" err="1">
                <a:solidFill>
                  <a:srgbClr val="0C3378"/>
                </a:solidFill>
                <a:latin typeface="Arial"/>
              </a:rPr>
              <a:t>работоспособности</a:t>
            </a:r>
            <a:endParaRPr sz="2800" dirty="0">
              <a:solidFill>
                <a:srgbClr val="0C337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a5f72cc46_0_0"/>
          <p:cNvSpPr txBox="1">
            <a:spLocks noGrp="1"/>
          </p:cNvSpPr>
          <p:nvPr>
            <p:ph type="title"/>
          </p:nvPr>
        </p:nvSpPr>
        <p:spPr>
          <a:xfrm>
            <a:off x="568350" y="1068244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Комплект документации</a:t>
            </a:r>
            <a:endParaRPr>
              <a:solidFill>
                <a:srgbClr val="029C63"/>
              </a:solidFill>
            </a:endParaRPr>
          </a:p>
        </p:txBody>
      </p:sp>
      <p:sp>
        <p:nvSpPr>
          <p:cNvPr id="424" name="Google Shape;424;g3ea5f72cc46_0_0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Комплект документации</a:t>
            </a:r>
          </a:p>
        </p:txBody>
      </p:sp>
      <p:sp>
        <p:nvSpPr>
          <p:cNvPr id="425" name="Google Shape;425;g3ea5f72cc46_0_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sp>
        <p:nvSpPr>
          <p:cNvPr id="426" name="Google Shape;426;g3ea5f72cc46_0_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427" name="Google Shape;427;g3ea5f72cc46_0_0"/>
          <p:cNvSpPr txBox="1">
            <a:spLocks noGrp="1"/>
          </p:cNvSpPr>
          <p:nvPr>
            <p:ph type="body" idx="3"/>
          </p:nvPr>
        </p:nvSpPr>
        <p:spPr>
          <a:xfrm>
            <a:off x="594360" y="1536192"/>
            <a:ext cx="96012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indent="0" algn="l" rtl="0"/>
            <a:r>
              <a:rPr sz="1600" dirty="0">
                <a:solidFill>
                  <a:srgbClr val="000000"/>
                </a:solidFill>
                <a:latin typeface="Arial"/>
              </a:rPr>
              <a:t>К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защите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подготовлены</a:t>
            </a:r>
            <a:r>
              <a:rPr sz="1600" dirty="0">
                <a:solidFill>
                  <a:srgbClr val="000000"/>
                </a:solidFill>
                <a:latin typeface="Arial"/>
              </a:rPr>
              <a:t>:</a:t>
            </a:r>
            <a:endParaRPr sz="1700" dirty="0">
              <a:solidFill>
                <a:schemeClr val="dk1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sz="1700" dirty="0">
              <a:solidFill>
                <a:schemeClr val="dk1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техническое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задание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отчёт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проектной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работе</a:t>
            </a:r>
            <a:r>
              <a:rPr sz="16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руководство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пользователя</a:t>
            </a:r>
            <a:r>
              <a:rPr sz="16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руководство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администратора</a:t>
            </a:r>
            <a:r>
              <a:rPr sz="16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документация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разработчика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0" indent="0" algn="l">
              <a:lnSpc>
                <a:spcPct val="100000"/>
              </a:lnSpc>
            </a:pPr>
            <a:r>
              <a:rPr sz="1600" dirty="0">
                <a:solidFill>
                  <a:srgbClr val="000000"/>
                </a:solidFill>
                <a:latin typeface="Arial"/>
              </a:rPr>
              <a:t>—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конструкторская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документация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0" indent="0" algn="l">
              <a:lnSpc>
                <a:spcPct val="100000"/>
              </a:lnSpc>
            </a:pPr>
            <a:endParaRPr sz="1800" dirty="0">
              <a:solidFill>
                <a:srgbClr val="000000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Документы описывают требования, архитектуру, установку, пользовательские сценарии, расписание и порядок сопровождения стенда.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 txBox="1">
            <a:spLocks noGrp="1"/>
          </p:cNvSpPr>
          <p:nvPr>
            <p:ph type="body" idx="3"/>
          </p:nvPr>
        </p:nvSpPr>
        <p:spPr>
          <a:xfrm>
            <a:off x="594360" y="1737360"/>
            <a:ext cx="8869680" cy="425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latin typeface="Arial"/>
              </a:rPr>
              <a:t>В </a:t>
            </a:r>
            <a:r>
              <a:rPr sz="1600" dirty="0" err="1">
                <a:latin typeface="Arial"/>
              </a:rPr>
              <a:t>ходе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проекта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создан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программно-аппаратный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удалённый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стенд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для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работы</a:t>
            </a:r>
            <a:r>
              <a:rPr sz="1600" dirty="0">
                <a:latin typeface="Arial"/>
              </a:rPr>
              <a:t> с ПЛИС DE10-Lite </a:t>
            </a:r>
            <a:r>
              <a:rPr sz="1600" dirty="0" err="1">
                <a:latin typeface="Arial"/>
              </a:rPr>
              <a:t>на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базе</a:t>
            </a:r>
            <a:r>
              <a:rPr sz="1600" dirty="0">
                <a:latin typeface="Arial"/>
              </a:rPr>
              <a:t> Raspberry Pi.</a:t>
            </a:r>
            <a:endParaRPr dirty="0"/>
          </a:p>
          <a:p>
            <a:pPr marL="0" indent="0" algn="l"/>
            <a:endParaRPr dirty="0"/>
          </a:p>
          <a:p>
            <a:pPr marL="0" indent="0" algn="l"/>
            <a:r>
              <a:rPr sz="1600" dirty="0" err="1">
                <a:latin typeface="Arial"/>
              </a:rPr>
              <a:t>Полученный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результат</a:t>
            </a:r>
            <a:r>
              <a:rPr sz="1600" dirty="0">
                <a:latin typeface="Arial"/>
              </a:rPr>
              <a:t>: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веб-доступ</a:t>
            </a:r>
            <a:r>
              <a:rPr sz="1600" dirty="0">
                <a:latin typeface="Arial"/>
              </a:rPr>
              <a:t> к </a:t>
            </a:r>
            <a:r>
              <a:rPr sz="1600" dirty="0" err="1">
                <a:latin typeface="Arial"/>
              </a:rPr>
              <a:t>реальной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плате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через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браузер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асинхронные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задания</a:t>
            </a:r>
            <a:r>
              <a:rPr sz="1600" dirty="0">
                <a:latin typeface="Arial"/>
              </a:rPr>
              <a:t> с </a:t>
            </a:r>
            <a:r>
              <a:rPr sz="1600" dirty="0" err="1">
                <a:latin typeface="Arial"/>
              </a:rPr>
              <a:t>видеорезультатом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интерактивные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сессии</a:t>
            </a:r>
            <a:r>
              <a:rPr sz="1600" dirty="0">
                <a:latin typeface="Arial"/>
              </a:rPr>
              <a:t> с </a:t>
            </a:r>
            <a:r>
              <a:rPr sz="1600" dirty="0" err="1">
                <a:latin typeface="Arial"/>
              </a:rPr>
              <a:t>живым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видео</a:t>
            </a:r>
            <a:r>
              <a:rPr sz="1600" dirty="0">
                <a:latin typeface="Arial"/>
              </a:rPr>
              <a:t> и </a:t>
            </a:r>
            <a:r>
              <a:rPr sz="1600" dirty="0" err="1">
                <a:latin typeface="Arial"/>
              </a:rPr>
              <a:t>управлением</a:t>
            </a:r>
            <a:r>
              <a:rPr sz="1600" dirty="0">
                <a:latin typeface="Arial"/>
              </a:rPr>
              <a:t> GPIO;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аппаратный</a:t>
            </a:r>
            <a:r>
              <a:rPr sz="1600" dirty="0">
                <a:latin typeface="Arial"/>
              </a:rPr>
              <a:t> и simulation-</a:t>
            </a:r>
            <a:r>
              <a:rPr sz="1600" dirty="0" err="1">
                <a:latin typeface="Arial"/>
              </a:rPr>
              <a:t>режимы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агента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установочные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сценарии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без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ручной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настройки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окружения</a:t>
            </a:r>
            <a:r>
              <a:rPr sz="1600" dirty="0">
                <a:latin typeface="Arial"/>
              </a:rPr>
              <a:t>;</a:t>
            </a:r>
          </a:p>
          <a:p>
            <a:pPr marL="0" indent="0" algn="l"/>
            <a:r>
              <a:rPr sz="1600" dirty="0">
                <a:latin typeface="Arial"/>
              </a:rPr>
              <a:t>— </a:t>
            </a:r>
            <a:r>
              <a:rPr sz="1600" dirty="0" err="1">
                <a:latin typeface="Arial"/>
              </a:rPr>
              <a:t>примеры</a:t>
            </a:r>
            <a:r>
              <a:rPr sz="1600" dirty="0">
                <a:latin typeface="Arial"/>
              </a:rPr>
              <a:t> Blink и GPIO-test </a:t>
            </a:r>
            <a:r>
              <a:rPr sz="1600" dirty="0" err="1">
                <a:latin typeface="Arial"/>
              </a:rPr>
              <a:t>для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проверки</a:t>
            </a:r>
            <a:r>
              <a:rPr sz="1600" dirty="0">
                <a:latin typeface="Arial"/>
              </a:rPr>
              <a:t> </a:t>
            </a:r>
            <a:r>
              <a:rPr sz="1600" dirty="0" err="1">
                <a:latin typeface="Arial"/>
              </a:rPr>
              <a:t>ячейки</a:t>
            </a:r>
            <a:r>
              <a:rPr sz="1600" dirty="0">
                <a:latin typeface="Arial"/>
              </a:rPr>
              <a:t>.</a:t>
            </a:r>
          </a:p>
          <a:p>
            <a:pPr marL="0" indent="0" algn="l"/>
            <a:endParaRPr sz="1800" dirty="0"/>
          </a:p>
          <a:p>
            <a:pPr marL="0" indent="0" algn="l"/>
            <a:r>
              <a:rPr lang="ru-RU" sz="1600" dirty="0" smtClean="0">
                <a:latin typeface="Arial"/>
              </a:rPr>
              <a:t>Дальнейшее развитие: новые платы ПЛИС и дополнительные лабораторные работы.</a:t>
            </a:r>
          </a:p>
        </p:txBody>
      </p:sp>
      <p:sp>
        <p:nvSpPr>
          <p:cNvPr id="391" name="Google Shape;391;p18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/>
            <a:r>
              <a:rPr sz="800">
                <a:solidFill>
                  <a:srgbClr val="0B2E6F"/>
                </a:solidFill>
                <a:latin typeface="Arial"/>
              </a:rPr>
              <a:t>Выводы</a:t>
            </a:r>
          </a:p>
        </p:txBody>
      </p:sp>
      <p:sp>
        <p:nvSpPr>
          <p:cNvPr id="392" name="Google Shape;392;p1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Удалённый стенд для работы с ПЛИС</a:t>
            </a:r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latin typeface="Arial"/>
              </a:rPr>
              <a:t>МИЭМ НИУ ВШЭ</a:t>
            </a:r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502920" y="1115568"/>
            <a:ext cx="7132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/>
            <a:r>
              <a:rPr sz="2800">
                <a:solidFill>
                  <a:srgbClr val="0C3378"/>
                </a:solidFill>
                <a:latin typeface="Arial"/>
              </a:rPr>
              <a:t>Выводы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1653</Words>
  <Application>Microsoft Office PowerPoint</Application>
  <PresentationFormat>Широкоэкранный</PresentationFormat>
  <Paragraphs>288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2372 Удалённый стенд для работы с ПЛИС на базе одноплатного компьютера</vt:lpstr>
      <vt:lpstr>Участники проекта</vt:lpstr>
      <vt:lpstr>Презентация PowerPoint</vt:lpstr>
      <vt:lpstr>Цель проекта</vt:lpstr>
      <vt:lpstr>Этапы решения задачи</vt:lpstr>
      <vt:lpstr>Имеющийся задел</vt:lpstr>
      <vt:lpstr>Что стало лучше в версии 2372</vt:lpstr>
      <vt:lpstr>Проектная архитектура стенда</vt:lpstr>
      <vt:lpstr>Аппаратная ячейка</vt:lpstr>
      <vt:lpstr>Сравнение с предыдущими вариантами</vt:lpstr>
      <vt:lpstr>Принцип работы</vt:lpstr>
      <vt:lpstr>Проверка перед запуском</vt:lpstr>
      <vt:lpstr>Программная архитектура стенда</vt:lpstr>
      <vt:lpstr>Пользовательский сценарий</vt:lpstr>
      <vt:lpstr>Асинхронные задания</vt:lpstr>
      <vt:lpstr>Интерактивная сессия</vt:lpstr>
      <vt:lpstr>Установка и администрирование</vt:lpstr>
      <vt:lpstr>Презентация PowerPoint</vt:lpstr>
      <vt:lpstr>Презентация PowerPoint</vt:lpstr>
      <vt:lpstr>Комплект документации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2372 Удалённый стенд для работы с ПЛИС на базе одноплатного компьютера</dc:title>
  <dc:subject/>
  <dc:creator/>
  <cp:keywords/>
  <dc:description/>
  <cp:lastModifiedBy>U</cp:lastModifiedBy>
  <cp:revision>1</cp:revision>
  <dcterms:modified xsi:type="dcterms:W3CDTF">2026-09-14T12:15:39Z</dcterms:modified>
  <cp:category/>
  <dc:identifier/>
  <cp:contentStatus/>
  <dc:language/>
  <cp:version/>
</cp:coreProperties>
</file>